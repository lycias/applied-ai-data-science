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271cdc4fe46de" /><Relationship Type="http://schemas.openxmlformats.org/officeDocument/2006/relationships/extended-properties" Target="/docProps/app.xml" Id="Rd85fe8622caa4e7d" /><Relationship Type="http://schemas.openxmlformats.org/officeDocument/2006/relationships/officeDocument" Target="/ppt/presentation.xml" Id="R52f1c4e6f43145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589b1aac34797"/>
  </p:sldMasterIdLst>
  <p:notesMasterIdLst>
    <p:notesMasterId xmlns:r="http://schemas.openxmlformats.org/officeDocument/2006/relationships" r:id="Raf9a8865de534125"/>
  </p:notesMasterIdLst>
  <p:sldIdLst>
    <p:sldId xmlns:r="http://schemas.openxmlformats.org/officeDocument/2006/relationships" id="256" r:id="R44efc89fdee74938"/>
    <p:sldId xmlns:r="http://schemas.openxmlformats.org/officeDocument/2006/relationships" id="257" r:id="R24f82519f08e427c"/>
    <p:sldId xmlns:r="http://schemas.openxmlformats.org/officeDocument/2006/relationships" id="258" r:id="R152396a6596344dd"/>
    <p:sldId xmlns:r="http://schemas.openxmlformats.org/officeDocument/2006/relationships" id="259" r:id="R0398154018c540d8"/>
    <p:sldId xmlns:r="http://schemas.openxmlformats.org/officeDocument/2006/relationships" id="260" r:id="Rea57cd98835e4d12"/>
    <p:sldId xmlns:r="http://schemas.openxmlformats.org/officeDocument/2006/relationships" id="261" r:id="Rb042a9e8cf044a9d"/>
    <p:sldId xmlns:r="http://schemas.openxmlformats.org/officeDocument/2006/relationships" id="262" r:id="R46d6422ac6bb474e"/>
    <p:sldId xmlns:r="http://schemas.openxmlformats.org/officeDocument/2006/relationships" id="263" r:id="R563916918f5f4d5e"/>
    <p:sldId xmlns:r="http://schemas.openxmlformats.org/officeDocument/2006/relationships" id="264" r:id="R0fb105933e5048ea"/>
    <p:sldId xmlns:r="http://schemas.openxmlformats.org/officeDocument/2006/relationships" id="265" r:id="R0ecf5944c6074761"/>
    <p:sldId xmlns:r="http://schemas.openxmlformats.org/officeDocument/2006/relationships" id="266" r:id="R85202b73bf2f42ca"/>
    <p:sldId xmlns:r="http://schemas.openxmlformats.org/officeDocument/2006/relationships" id="267" r:id="R5324299a5de94427"/>
    <p:sldId xmlns:r="http://schemas.openxmlformats.org/officeDocument/2006/relationships" id="268" r:id="R947a055e7b7a42fd"/>
    <p:sldId xmlns:r="http://schemas.openxmlformats.org/officeDocument/2006/relationships" id="269" r:id="R2dd6d53b2b6344bb"/>
    <p:sldId xmlns:r="http://schemas.openxmlformats.org/officeDocument/2006/relationships" id="270" r:id="R47bfc779dbd14b1e"/>
    <p:sldId xmlns:r="http://schemas.openxmlformats.org/officeDocument/2006/relationships" id="271" r:id="R608fb71f9081410a"/>
    <p:sldId xmlns:r="http://schemas.openxmlformats.org/officeDocument/2006/relationships" id="272" r:id="Rce3819aa89214d36"/>
    <p:sldId xmlns:r="http://schemas.openxmlformats.org/officeDocument/2006/relationships" id="273" r:id="R0449932e6c744af3"/>
    <p:sldId xmlns:r="http://schemas.openxmlformats.org/officeDocument/2006/relationships" id="274" r:id="Rc03c6f2fa45a4bf5"/>
    <p:sldId xmlns:r="http://schemas.openxmlformats.org/officeDocument/2006/relationships" id="275" r:id="R97781365ebbe4454"/>
    <p:sldId xmlns:r="http://schemas.openxmlformats.org/officeDocument/2006/relationships" id="276" r:id="R656a3ff3740d4398"/>
    <p:sldId xmlns:r="http://schemas.openxmlformats.org/officeDocument/2006/relationships" id="277" r:id="R04b049cb9db342f7"/>
    <p:sldId xmlns:r="http://schemas.openxmlformats.org/officeDocument/2006/relationships" id="278" r:id="Rf1fffb5b6c5246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0d1a7e08b347e7" /><Relationship Type="http://schemas.openxmlformats.org/officeDocument/2006/relationships/slideMaster" Target="/ppt/slideMasters/slideMaster1.xml" Id="Re42589b1aac34797" /><Relationship Type="http://schemas.openxmlformats.org/officeDocument/2006/relationships/notesMaster" Target="/ppt/notesMasters/notesMaster1.xml" Id="Raf9a8865de534125" /><Relationship Type="http://schemas.openxmlformats.org/officeDocument/2006/relationships/presProps" Target="/ppt/presProps.xml" Id="Re2d25b6380f04781" /><Relationship Type="http://schemas.openxmlformats.org/officeDocument/2006/relationships/viewProps" Target="/ppt/viewProps.xml" Id="R713f446bb3164c54" /><Relationship Type="http://schemas.openxmlformats.org/officeDocument/2006/relationships/tableStyles" Target="/ppt/tableStyles.xml" Id="Rd9136e84479b4e65" /><Relationship Type="http://schemas.openxmlformats.org/officeDocument/2006/relationships/slide" Target="/ppt/slides/slide1.xml" Id="R44efc89fdee74938" /><Relationship Type="http://schemas.openxmlformats.org/officeDocument/2006/relationships/slide" Target="/ppt/slides/slide2.xml" Id="R24f82519f08e427c" /><Relationship Type="http://schemas.openxmlformats.org/officeDocument/2006/relationships/slide" Target="/ppt/slides/slide3.xml" Id="R152396a6596344dd" /><Relationship Type="http://schemas.openxmlformats.org/officeDocument/2006/relationships/slide" Target="/ppt/slides/slide4.xml" Id="R0398154018c540d8" /><Relationship Type="http://schemas.openxmlformats.org/officeDocument/2006/relationships/slide" Target="/ppt/slides/slide5.xml" Id="Rea57cd98835e4d12" /><Relationship Type="http://schemas.openxmlformats.org/officeDocument/2006/relationships/slide" Target="/ppt/slides/slide6.xml" Id="Rb042a9e8cf044a9d" /><Relationship Type="http://schemas.openxmlformats.org/officeDocument/2006/relationships/slide" Target="/ppt/slides/slide7.xml" Id="R46d6422ac6bb474e" /><Relationship Type="http://schemas.openxmlformats.org/officeDocument/2006/relationships/slide" Target="/ppt/slides/slide8.xml" Id="R563916918f5f4d5e" /><Relationship Type="http://schemas.openxmlformats.org/officeDocument/2006/relationships/slide" Target="/ppt/slides/slide9.xml" Id="R0fb105933e5048ea" /><Relationship Type="http://schemas.openxmlformats.org/officeDocument/2006/relationships/slide" Target="/ppt/slides/slide10.xml" Id="R0ecf5944c6074761" /><Relationship Type="http://schemas.openxmlformats.org/officeDocument/2006/relationships/slide" Target="/ppt/slides/slide11.xml" Id="R85202b73bf2f42ca" /><Relationship Type="http://schemas.openxmlformats.org/officeDocument/2006/relationships/slide" Target="/ppt/slides/slide12.xml" Id="R5324299a5de94427" /><Relationship Type="http://schemas.openxmlformats.org/officeDocument/2006/relationships/slide" Target="/ppt/slides/slide13.xml" Id="R947a055e7b7a42fd" /><Relationship Type="http://schemas.openxmlformats.org/officeDocument/2006/relationships/slide" Target="/ppt/slides/slide14.xml" Id="R2dd6d53b2b6344bb" /><Relationship Type="http://schemas.openxmlformats.org/officeDocument/2006/relationships/slide" Target="/ppt/slides/slide15.xml" Id="R47bfc779dbd14b1e" /><Relationship Type="http://schemas.openxmlformats.org/officeDocument/2006/relationships/slide" Target="/ppt/slides/slide16.xml" Id="R608fb71f9081410a" /><Relationship Type="http://schemas.openxmlformats.org/officeDocument/2006/relationships/slide" Target="/ppt/slides/slide17.xml" Id="Rce3819aa89214d36" /><Relationship Type="http://schemas.openxmlformats.org/officeDocument/2006/relationships/slide" Target="/ppt/slides/slide18.xml" Id="R0449932e6c744af3" /><Relationship Type="http://schemas.openxmlformats.org/officeDocument/2006/relationships/slide" Target="/ppt/slides/slide19.xml" Id="Rc03c6f2fa45a4bf5" /><Relationship Type="http://schemas.openxmlformats.org/officeDocument/2006/relationships/slide" Target="/ppt/slides/slide20.xml" Id="R97781365ebbe4454" /><Relationship Type="http://schemas.openxmlformats.org/officeDocument/2006/relationships/slide" Target="/ppt/slides/slide21.xml" Id="R656a3ff3740d4398" /><Relationship Type="http://schemas.openxmlformats.org/officeDocument/2006/relationships/slide" Target="/ppt/slides/slide22.xml" Id="R04b049cb9db342f7" /><Relationship Type="http://schemas.openxmlformats.org/officeDocument/2006/relationships/slide" Target="/ppt/slides/slide23.xml" Id="Rf1fffb5b6c5246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05f75e9dbc43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716e26482a4a9c" /><Relationship Type="http://schemas.openxmlformats.org/officeDocument/2006/relationships/notesMaster" Target="/ppt/notesMasters/notesMaster1.xml" Id="R7deae34c653c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33a03973014105" /><Relationship Type="http://schemas.openxmlformats.org/officeDocument/2006/relationships/notesMaster" Target="/ppt/notesMasters/notesMaster1.xml" Id="Ra707075b7f0840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e2f0477a654bc8" /><Relationship Type="http://schemas.openxmlformats.org/officeDocument/2006/relationships/notesMaster" Target="/ppt/notesMasters/notesMaster1.xml" Id="Ra7734f189b9d48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5b97619ae04db7" /><Relationship Type="http://schemas.openxmlformats.org/officeDocument/2006/relationships/notesMaster" Target="/ppt/notesMasters/notesMaster1.xml" Id="Rc30a0ed3b5634b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4728eeda1c4786" /><Relationship Type="http://schemas.openxmlformats.org/officeDocument/2006/relationships/notesMaster" Target="/ppt/notesMasters/notesMaster1.xml" Id="Rc6fe6f47357d4e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1c5b9a3e5e4772" /><Relationship Type="http://schemas.openxmlformats.org/officeDocument/2006/relationships/notesMaster" Target="/ppt/notesMasters/notesMaster1.xml" Id="Ra59f7538036b40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d67912c9014089" /><Relationship Type="http://schemas.openxmlformats.org/officeDocument/2006/relationships/notesMaster" Target="/ppt/notesMasters/notesMaster1.xml" Id="Ra76ca38717144c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c3278eb4e4311" /><Relationship Type="http://schemas.openxmlformats.org/officeDocument/2006/relationships/notesMaster" Target="/ppt/notesMasters/notesMaster1.xml" Id="Rb7e9fe4207e741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df6a5ffdd140fe" /><Relationship Type="http://schemas.openxmlformats.org/officeDocument/2006/relationships/notesMaster" Target="/ppt/notesMasters/notesMaster1.xml" Id="Rfdab59bacf284b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258b84b58f4f5d" /><Relationship Type="http://schemas.openxmlformats.org/officeDocument/2006/relationships/notesMaster" Target="/ppt/notesMasters/notesMaster1.xml" Id="R6714a8c62c8f4d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d0921f02be4611" /><Relationship Type="http://schemas.openxmlformats.org/officeDocument/2006/relationships/notesMaster" Target="/ppt/notesMasters/notesMaster1.xml" Id="R98a51d5637cf4c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ede70449ba4636" /><Relationship Type="http://schemas.openxmlformats.org/officeDocument/2006/relationships/notesMaster" Target="/ppt/notesMasters/notesMaster1.xml" Id="Ra87c919b823d47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811225b09b4220" /><Relationship Type="http://schemas.openxmlformats.org/officeDocument/2006/relationships/notesMaster" Target="/ppt/notesMasters/notesMaster1.xml" Id="R2da298c7b2674a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085b411c304fa0" /><Relationship Type="http://schemas.openxmlformats.org/officeDocument/2006/relationships/notesMaster" Target="/ppt/notesMasters/notesMaster1.xml" Id="R72180794cb7848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381defc63845b8" /><Relationship Type="http://schemas.openxmlformats.org/officeDocument/2006/relationships/notesMaster" Target="/ppt/notesMasters/notesMaster1.xml" Id="Rb754f465428941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abf64182c94a9d" /><Relationship Type="http://schemas.openxmlformats.org/officeDocument/2006/relationships/notesMaster" Target="/ppt/notesMasters/notesMaster1.xml" Id="Rfb2f26d4473c43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45c55bb5ac4b35" /><Relationship Type="http://schemas.openxmlformats.org/officeDocument/2006/relationships/notesMaster" Target="/ppt/notesMasters/notesMaster1.xml" Id="R95672ba058da48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450064ada64a99" /><Relationship Type="http://schemas.openxmlformats.org/officeDocument/2006/relationships/notesMaster" Target="/ppt/notesMasters/notesMaster1.xml" Id="R6e9800f5f1644d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cf4e16ce4a4fcf" /><Relationship Type="http://schemas.openxmlformats.org/officeDocument/2006/relationships/notesMaster" Target="/ppt/notesMasters/notesMaster1.xml" Id="R69b8352ab29241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1e4e85fa204b26" /><Relationship Type="http://schemas.openxmlformats.org/officeDocument/2006/relationships/notesMaster" Target="/ppt/notesMasters/notesMaster1.xml" Id="R536d0c6a888f4b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fe15bd3de647c6" /><Relationship Type="http://schemas.openxmlformats.org/officeDocument/2006/relationships/notesMaster" Target="/ppt/notesMasters/notesMaster1.xml" Id="Rf243afd320c546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d5955a906e4d7f" /><Relationship Type="http://schemas.openxmlformats.org/officeDocument/2006/relationships/notesMaster" Target="/ppt/notesMasters/notesMaster1.xml" Id="Rd41e41d0601743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f4bceb4883142ac" /><Relationship Type="http://schemas.openxmlformats.org/officeDocument/2006/relationships/notesMaster" Target="/ppt/notesMasters/notesMaster1.xml" Id="R97e55022162643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capstone_final_Notebook_Final_Corrected.html, executive summary and final locked test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capstone_final_Notebook_Final_Corrected.html, Section 6 Illustrative Business Value. Values use hypothetical assumptions and do not represent a forecast, savings guarantee or confirmed ROI.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capstone_final_Notebook_Final_Corrected.html, model interpretation and deployment safeguards.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9327cafca4f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c078b466342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5432f38e34b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60e973d144e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e52e7987747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497853c3c43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794c0253746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2c55a27f343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2cebdb1494c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693609de44c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d99399c0f4cc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47B2F7-3A3D-F1B1-B9A1-16002CADBE1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6CB26EE-5DB7-FE18-588D-5880EC0446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EAF032-26F3-313E-C02B-CB1EFB46D0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C93ECF-2712-4A5A-D5A1-867DFF4091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15FBDA-00B5-BB56-1A51-FEA47C545A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9263CF-ED26-07B3-A4CC-77595A057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399D53-ECB3-BEA5-7DEA-FCE65E8A5F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5A4D15-4118-394A-73B7-37E5A6E523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62AAAB-7295-9984-618B-E4368E5A9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D68586-8021-F242-DA4F-B1A7D399CE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653EBF-A425-47A4-D862-7BF25C552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99135C-120F-9475-17E2-B6FF14347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89BE26-8C15-8B9C-40DB-5676EC8B12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3E93C7-DFAD-814B-60BF-4EE8215C1A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E43267-4B7B-DF27-D1CF-41C1481EAC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C451E5-FBF9-EFE0-8A51-0AFC9A423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CC95D6-4C66-654C-3EC9-01DD5C6CBE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805F11D-5AA3-41AD-3809-C040C28CE1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BB1CF51-A5AD-92C7-3034-3555341F5B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659A6AB-EE15-1BCA-BC41-BAE2F6AA6F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BB5B2E-9C2B-4410-7534-70A6F813B0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86241-8959-C7AC-E088-6D0BE50F19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1E6207-4258-EDD9-3921-14257D40F6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1F4688-FC70-3D09-A473-6CA8AC58DA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4A0B577-6E5A-35DC-4F70-916E7862F72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F7F7E6F-D89E-1453-800A-CF3A9723208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B64560-A941-188F-BBB6-29AF07E1E5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4176A71-6560-469F-B9F7-AFE6FCF922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D7AE637-C5D2-3317-888A-313C314EA9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2C30CD-3D77-5A1F-E943-6E92D54E28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1574C6A-5D77-BF07-7558-3F74EB4169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6DCD347-B9E6-76F1-73E5-08C80E864E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1AABA69-0203-0DBA-57C4-25F29F8D2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1D601F3-025A-32AB-0CBC-952CF68AA9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6DFAC93-3D0A-6A3F-0A72-040085A8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2BB6A8F-AE23-CEDD-CDDB-EBE906D75B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8BBE64-CA6D-AB49-E39C-B7D9F7B60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2D3715-CA0A-6461-CA98-41BE424291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28469AA-3825-0822-7FC3-6DADBAC741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7DBB83-2041-6D37-EEBB-4996343BD5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72B46A-66F6-F72D-4DFB-A0B6089A8D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4270A6-BB88-4475-65D6-985C3DDA5D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496604-235A-8699-9373-189AD69A5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9526222-8400-32B5-C0C0-21288DBD6A1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5F6368-0053-2A65-F5B4-59408ADF9F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3C58ED-8A0F-2703-F735-35A377AF06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65162A2-6B9E-2F16-C089-01C73E6EE9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F2275D-A461-8226-BD0B-07481CB031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7B648D-1850-5DA3-ED75-BBF6816D3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C53F73-4D93-3614-B48C-C57EC41969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618C2E-9416-A4B5-F6A9-BE7F988ED7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0C53E9-C005-7B81-E062-3A128819AD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8EF3B1-4322-342F-6DCD-52812884A1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508092A-50FA-FFD8-1F6E-912EDB414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1FE4FE-F51D-A7E8-C431-376DBFBDE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E246E1-3325-E594-0EB7-BF7CF5C737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A116F1-83F7-A35B-81DB-11269152A5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F2EBEA-3890-9543-0F92-BA0089D63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8984e5bd3a4893" /><Relationship Type="http://schemas.openxmlformats.org/officeDocument/2006/relationships/slideLayout" Target="/ppt/slideLayouts/slideLayout1.xml" Id="Racd994fc30484a1c" /><Relationship Type="http://schemas.openxmlformats.org/officeDocument/2006/relationships/slideLayout" Target="/ppt/slideLayouts/slideLayout2.xml" Id="R902e4bb291e749fc" /><Relationship Type="http://schemas.openxmlformats.org/officeDocument/2006/relationships/slideLayout" Target="/ppt/slideLayouts/slideLayout3.xml" Id="Re25c900d45c14fb5" /><Relationship Type="http://schemas.openxmlformats.org/officeDocument/2006/relationships/slideLayout" Target="/ppt/slideLayouts/slideLayout4.xml" Id="Rc73fce7746804d90" /><Relationship Type="http://schemas.openxmlformats.org/officeDocument/2006/relationships/slideLayout" Target="/ppt/slideLayouts/slideLayout5.xml" Id="R0cb36c9f6edb4f43" /><Relationship Type="http://schemas.openxmlformats.org/officeDocument/2006/relationships/slideLayout" Target="/ppt/slideLayouts/slideLayout6.xml" Id="Rd06273f49d884a17" /><Relationship Type="http://schemas.openxmlformats.org/officeDocument/2006/relationships/slideLayout" Target="/ppt/slideLayouts/slideLayout7.xml" Id="R6f0f857d9ac94519" /><Relationship Type="http://schemas.openxmlformats.org/officeDocument/2006/relationships/slideLayout" Target="/ppt/slideLayouts/slideLayout8.xml" Id="R29352ce731b44fe8" /><Relationship Type="http://schemas.openxmlformats.org/officeDocument/2006/relationships/slideLayout" Target="/ppt/slideLayouts/slideLayout9.xml" Id="Ra146a34cc9f7409d" /><Relationship Type="http://schemas.openxmlformats.org/officeDocument/2006/relationships/slideLayout" Target="/ppt/slideLayouts/slideLayout10.xml" Id="R63f46d60f2904cbf" /><Relationship Type="http://schemas.openxmlformats.org/officeDocument/2006/relationships/slideLayout" Target="/ppt/slideLayouts/slideLayout11.xml" Id="Rac113b92719046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BF39C4-2EA2-50F9-3A8D-C3B42FD92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F2CD60-D42E-06E5-BF84-1D371ADC2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84FF90-F7F5-7136-F98A-8FDFF9479B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A2C4F41-3B4E-45ED-A0A8-AE5B12B67FD0}" type="datetimeFigureOut">
              <a:t>9/11/2026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461E38-64A1-FEF3-3585-6E29CD38E7A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98B10B-07EB-898B-BBE4-D4996A3CB0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0799424-6540-4F9A-B00D-8701D44503E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994fc30484a1c"/>
    <p:sldLayoutId xmlns:r="http://schemas.openxmlformats.org/officeDocument/2006/relationships" id="2147483650" r:id="R902e4bb291e749fc"/>
    <p:sldLayoutId xmlns:r="http://schemas.openxmlformats.org/officeDocument/2006/relationships" id="2147483651" r:id="Re25c900d45c14fb5"/>
    <p:sldLayoutId xmlns:r="http://schemas.openxmlformats.org/officeDocument/2006/relationships" id="2147483652" r:id="Rc73fce7746804d90"/>
    <p:sldLayoutId xmlns:r="http://schemas.openxmlformats.org/officeDocument/2006/relationships" id="2147483653" r:id="R0cb36c9f6edb4f43"/>
    <p:sldLayoutId xmlns:r="http://schemas.openxmlformats.org/officeDocument/2006/relationships" id="2147483654" r:id="Rd06273f49d884a17"/>
    <p:sldLayoutId xmlns:r="http://schemas.openxmlformats.org/officeDocument/2006/relationships" id="2147483655" r:id="R6f0f857d9ac94519"/>
    <p:sldLayoutId xmlns:r="http://schemas.openxmlformats.org/officeDocument/2006/relationships" id="2147483656" r:id="R29352ce731b44fe8"/>
    <p:sldLayoutId xmlns:r="http://schemas.openxmlformats.org/officeDocument/2006/relationships" id="2147483657" r:id="Ra146a34cc9f7409d"/>
    <p:sldLayoutId xmlns:r="http://schemas.openxmlformats.org/officeDocument/2006/relationships" id="2147483658" r:id="R63f46d60f2904cbf"/>
    <p:sldLayoutId xmlns:r="http://schemas.openxmlformats.org/officeDocument/2006/relationships" id="2147483659" r:id="Rac113b927190460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97e92904094167" /><Relationship Type="http://schemas.openxmlformats.org/officeDocument/2006/relationships/image" Target="/ppt/media/image.jpeg" Id="Rba5b1c61cd2943d7" /><Relationship Type="http://schemas.openxmlformats.org/officeDocument/2006/relationships/notesSlide" Target="/ppt/notesSlides/notesSlide1.xml" Id="R83cb4469624f4f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2352ffccac4b76" /><Relationship Type="http://schemas.openxmlformats.org/officeDocument/2006/relationships/notesSlide" Target="/ppt/notesSlides/notesSlide2.xml" Id="R5b8b2fe60fb441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46d03ee8d0433c" /><Relationship Type="http://schemas.openxmlformats.org/officeDocument/2006/relationships/image" Target="/ppt/media/image.png" Id="Rd50651398097492d" /><Relationship Type="http://schemas.openxmlformats.org/officeDocument/2006/relationships/notesSlide" Target="/ppt/notesSlides/notesSlide3.xml" Id="Ra9c0d995316042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b48be3dc8146d7" /><Relationship Type="http://schemas.openxmlformats.org/officeDocument/2006/relationships/image" Target="/ppt/media/image2.png" Id="Raf8f49fd082d4b25" /><Relationship Type="http://schemas.openxmlformats.org/officeDocument/2006/relationships/notesSlide" Target="/ppt/notesSlides/notesSlide4.xml" Id="R3fc320d1bd1840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89903e60db4e8c" /><Relationship Type="http://schemas.openxmlformats.org/officeDocument/2006/relationships/notesSlide" Target="/ppt/notesSlides/notesSlide5.xml" Id="Rbfd71607150e43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5170d9376c463e" /><Relationship Type="http://schemas.openxmlformats.org/officeDocument/2006/relationships/chart" Target="/ppt/slides/charts/chart1.xml" Id="R4cce7c6fa56e41cc" /><Relationship Type="http://schemas.openxmlformats.org/officeDocument/2006/relationships/notesSlide" Target="/ppt/notesSlides/notesSlide6.xml" Id="R43d4dc0685f64d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a6ca9938f54e0e" /><Relationship Type="http://schemas.openxmlformats.org/officeDocument/2006/relationships/chart" Target="/ppt/slides/charts/chart2.xml" Id="Rcdeb1bf9ceda41cc" /><Relationship Type="http://schemas.openxmlformats.org/officeDocument/2006/relationships/notesSlide" Target="/ppt/notesSlides/notesSlide7.xml" Id="R6fc4dfc0be4f49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226d27bfe640a9" /><Relationship Type="http://schemas.openxmlformats.org/officeDocument/2006/relationships/notesSlide" Target="/ppt/notesSlides/notesSlide8.xml" Id="Rfe36b256aa2942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ba0a8ee54f4a00" /><Relationship Type="http://schemas.openxmlformats.org/officeDocument/2006/relationships/notesSlide" Target="/ppt/notesSlides/notesSlide9.xml" Id="R7ce617c38e0a43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5c8e7e72b54360" /><Relationship Type="http://schemas.openxmlformats.org/officeDocument/2006/relationships/notesSlide" Target="/ppt/notesSlides/notesSlide10.xml" Id="R69c5db8e197e42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5646dfdbef4b34" /><Relationship Type="http://schemas.openxmlformats.org/officeDocument/2006/relationships/notesSlide" Target="/ppt/notesSlides/notesSlide11.xml" Id="Rbd6e1d2349ea4f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e7f2e1d78b4baa" /><Relationship Type="http://schemas.openxmlformats.org/officeDocument/2006/relationships/image" Target="/ppt/media/image3.png" Id="R620991aa0e7c431e" /><Relationship Type="http://schemas.openxmlformats.org/officeDocument/2006/relationships/notesSlide" Target="/ppt/notesSlides/notesSlide12.xml" Id="Rb2181d4d3f134c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b6e87ec0cd4fc7" /><Relationship Type="http://schemas.openxmlformats.org/officeDocument/2006/relationships/image" Target="/ppt/media/image4.png" Id="R231e953b33b54de7" /><Relationship Type="http://schemas.openxmlformats.org/officeDocument/2006/relationships/image" Target="/ppt/media/image5.png" Id="R6c8b1099bcfd4365" /><Relationship Type="http://schemas.openxmlformats.org/officeDocument/2006/relationships/notesSlide" Target="/ppt/notesSlides/notesSlide13.xml" Id="R29f19670e84a49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57f4bd776b4f66" /><Relationship Type="http://schemas.openxmlformats.org/officeDocument/2006/relationships/image" Target="/ppt/media/image6.png" Id="Raa7fa419fede4f1a" /><Relationship Type="http://schemas.openxmlformats.org/officeDocument/2006/relationships/notesSlide" Target="/ppt/notesSlides/notesSlide14.xml" Id="R8f19c1c30eec47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0f0c0cbd51447b" /><Relationship Type="http://schemas.openxmlformats.org/officeDocument/2006/relationships/image" Target="/ppt/media/image7.png" Id="R42eb9bf927f04944" /><Relationship Type="http://schemas.openxmlformats.org/officeDocument/2006/relationships/notesSlide" Target="/ppt/notesSlides/notesSlide15.xml" Id="R68383c8f62ed42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5482e7f0d64545" /><Relationship Type="http://schemas.openxmlformats.org/officeDocument/2006/relationships/image" Target="/ppt/media/image8.png" Id="R149e59847810416d" /><Relationship Type="http://schemas.openxmlformats.org/officeDocument/2006/relationships/image" Target="/ppt/media/image9.png" Id="R48da58ef6679480d" /><Relationship Type="http://schemas.openxmlformats.org/officeDocument/2006/relationships/notesSlide" Target="/ppt/notesSlides/notesSlide16.xml" Id="R2f340b47195845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aced12f5a44f18" /><Relationship Type="http://schemas.openxmlformats.org/officeDocument/2006/relationships/image" Target="/ppt/media/image10.png" Id="R9c4de8099d894c2c" /><Relationship Type="http://schemas.openxmlformats.org/officeDocument/2006/relationships/notesSlide" Target="/ppt/notesSlides/notesSlide17.xml" Id="Rfd01082acee247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5f66c8425d4c99" /><Relationship Type="http://schemas.openxmlformats.org/officeDocument/2006/relationships/image" Target="/ppt/media/image11.png" Id="R9bf95aaea9b0497a" /><Relationship Type="http://schemas.openxmlformats.org/officeDocument/2006/relationships/notesSlide" Target="/ppt/notesSlides/notesSlide18.xml" Id="R44be544daac34d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ff917c251d44c9" /><Relationship Type="http://schemas.openxmlformats.org/officeDocument/2006/relationships/image" Target="/ppt/media/image12.png" Id="Rcb450ea010674860" /><Relationship Type="http://schemas.openxmlformats.org/officeDocument/2006/relationships/image" Target="/ppt/media/image13.png" Id="R778952bfbec74c48" /><Relationship Type="http://schemas.openxmlformats.org/officeDocument/2006/relationships/notesSlide" Target="/ppt/notesSlides/notesSlide19.xml" Id="R92daa76203f945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86bd5d0e4640e0" /><Relationship Type="http://schemas.openxmlformats.org/officeDocument/2006/relationships/image" Target="/ppt/media/image14.png" Id="R6b25617c014a41cd" /><Relationship Type="http://schemas.openxmlformats.org/officeDocument/2006/relationships/notesSlide" Target="/ppt/notesSlides/notesSlide20.xml" Id="R786beb51804349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1f60fb2454443f" /><Relationship Type="http://schemas.openxmlformats.org/officeDocument/2006/relationships/chart" Target="/ppt/slides/charts/chart3.xml" Id="R4761f4d8e49d48c2" /><Relationship Type="http://schemas.openxmlformats.org/officeDocument/2006/relationships/notesSlide" Target="/ppt/notesSlides/notesSlide21.xml" Id="R5ad0f301698440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5281e155ca4531" /><Relationship Type="http://schemas.openxmlformats.org/officeDocument/2006/relationships/image" Target="/ppt/media/image15.png" Id="R7792eafe1d2c4ecf" /><Relationship Type="http://schemas.openxmlformats.org/officeDocument/2006/relationships/image" Target="/ppt/media/image16.png" Id="Rc986bd46ded04438" /><Relationship Type="http://schemas.openxmlformats.org/officeDocument/2006/relationships/notesSlide" Target="/ppt/notesSlides/notesSlide22.xml" Id="R20001e41095045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a6834dff144e8d" /><Relationship Type="http://schemas.openxmlformats.org/officeDocument/2006/relationships/image" Target="/ppt/media/image17.png" Id="R7b823e74b45843bb" /><Relationship Type="http://schemas.openxmlformats.org/officeDocument/2006/relationships/image" Target="/ppt/media/image18.png" Id="Rcbd79d1c037a47ae" /><Relationship Type="http://schemas.openxmlformats.org/officeDocument/2006/relationships/notesSlide" Target="/ppt/notesSlides/notesSlide23.xml" Id="Rdc529859ecda46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14A9D6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>
                    <a:solidFill>
                      <a:srgbClr val="263238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XGB locked</c:v>
                </c:pt>
                <c:pt idx="1">
                  <c:v>RF locked</c:v>
                </c:pt>
                <c:pt idx="2">
                  <c:v>XGB 0.50</c:v>
                </c:pt>
                <c:pt idx="3">
                  <c:v>RF 0.50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0.8235</c:v>
                </c:pt>
                <c:pt idx="1">
                  <c:v>0.8151</c:v>
                </c:pt>
                <c:pt idx="2">
                  <c:v>0.7143</c:v>
                </c:pt>
                <c:pt idx="3">
                  <c:v>0.7227</c:v>
                </c:pt>
              </c:numCache>
            </c:numRef>
          </c:val>
        </c:ser>
        <c:ser>
          <c:idx val="1"/>
          <c:order val="1"/>
          <c:tx>
            <c:v>Precision</c:v>
          </c:tx>
          <c:spPr>
            <a:solidFill xmlns:a="http://schemas.openxmlformats.org/drawingml/2006/main">
              <a:srgbClr val="37474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>
                    <a:solidFill>
                      <a:srgbClr val="263238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XGB locked</c:v>
                </c:pt>
                <c:pt idx="1">
                  <c:v>RF locked</c:v>
                </c:pt>
                <c:pt idx="2">
                  <c:v>XGB 0.50</c:v>
                </c:pt>
                <c:pt idx="3">
                  <c:v>RF 0.50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0.751</c:v>
                </c:pt>
                <c:pt idx="1">
                  <c:v>0.7519</c:v>
                </c:pt>
                <c:pt idx="2">
                  <c:v>0.8629</c:v>
                </c:pt>
                <c:pt idx="3">
                  <c:v>0.7818</c:v>
                </c:pt>
              </c:numCache>
            </c:numRef>
          </c:val>
        </c:ser>
        <c:ser>
          <c:idx val="2"/>
          <c:order val="2"/>
          <c:tx>
            <c:v>F1</c:v>
          </c:tx>
          <c:spPr>
            <a:solidFill xmlns:a="http://schemas.openxmlformats.org/drawingml/2006/main">
              <a:srgbClr val="F26A21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>
                    <a:solidFill>
                      <a:srgbClr val="263238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Data'!$E$2:$E$5</c:f>
              <c:strCache>
                <c:ptCount val="4"/>
                <c:pt idx="0">
                  <c:v>XGB locked</c:v>
                </c:pt>
                <c:pt idx="1">
                  <c:v>RF locked</c:v>
                </c:pt>
                <c:pt idx="2">
                  <c:v>XGB 0.50</c:v>
                </c:pt>
                <c:pt idx="3">
                  <c:v>RF 0.50</c:v>
                </c:pt>
              </c:strCache>
            </c:strRef>
          </c:cat>
          <c:val>
            <c:numRef>
              <c:f>'Chart Data'!$F$2:$F$5</c:f>
              <c:numCache>
                <c:formatCode>0%</c:formatCode>
                <c:ptCount val="4"/>
                <c:pt idx="0">
                  <c:v>0.7856</c:v>
                </c:pt>
                <c:pt idx="1">
                  <c:v>0.7823</c:v>
                </c:pt>
                <c:pt idx="2">
                  <c:v>0.7816</c:v>
                </c:pt>
                <c:pt idx="3">
                  <c:v>0.7511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Standard threshold 0.50</c:v>
          </c:tx>
          <c:spPr>
            <a:solidFill xmlns:a="http://schemas.openxmlformats.org/drawingml/2006/main">
              <a:srgbClr val="9AA9B0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>
                    <a:solidFill>
                      <a:srgbClr val="263238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0.8629</c:v>
                </c:pt>
                <c:pt idx="1">
                  <c:v>0.7143</c:v>
                </c:pt>
                <c:pt idx="2">
                  <c:v>0.7816</c:v>
                </c:pt>
              </c:numCache>
            </c:numRef>
          </c:val>
        </c:ser>
        <c:ser>
          <c:idx val="1"/>
          <c:order val="1"/>
          <c:tx>
            <c:v>Locked threshold 0.239</c:v>
          </c:tx>
          <c:spPr>
            <a:solidFill xmlns:a="http://schemas.openxmlformats.org/drawingml/2006/main">
              <a:srgbClr val="14A9D6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>
                    <a:solidFill>
                      <a:srgbClr val="263238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0.751</c:v>
                </c:pt>
                <c:pt idx="1">
                  <c:v>0.8235</c:v>
                </c:pt>
                <c:pt idx="2">
                  <c:v>0.7856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Tuned XGBoost</c:v>
          </c:tx>
          <c:spPr>
            <a:solidFill xmlns:a="http://schemas.openxmlformats.org/drawingml/2006/main">
              <a:srgbClr val="14A9D6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263238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ROC-AUC</c:v>
                </c:pt>
                <c:pt idx="1">
                  <c:v>Average Precision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0.954</c:v>
                </c:pt>
                <c:pt idx="1">
                  <c:v>0.8783</c:v>
                </c:pt>
              </c:numCache>
            </c:numRef>
          </c:val>
        </c:ser>
        <c:ser>
          <c:idx val="1"/>
          <c:order val="1"/>
          <c:tx>
            <c:v>Tuned Random Forest</c:v>
          </c:tx>
          <c:spPr>
            <a:solidFill xmlns:a="http://schemas.openxmlformats.org/drawingml/2006/main">
              <a:srgbClr val="37474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263238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ROC-AUC</c:v>
                </c:pt>
                <c:pt idx="1">
                  <c:v>Average Precision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0.962</c:v>
                </c:pt>
                <c:pt idx="1">
                  <c:v>0.8581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61DE820-C43A-4160-9A4D-9F6EB70F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717B306-7B9F-486A-A158-D7B0372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708" y="-1"/>
            <a:ext cx="4206240" cy="612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487D6A-A339-404F-A819-55021ADC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948" y="0"/>
            <a:ext cx="3593592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B10420-1D55-45C0-8B9F-499FF805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2"/>
            <a:ext cx="4389120" cy="67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0D0238-2051-448E-ADCD-93AF817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2"/>
            <a:ext cx="73152" cy="67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A538ADE-BFE2-42B5-96A4-298827C8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60" y="1737361"/>
            <a:ext cx="3931920" cy="1238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</a:pPr>
            <a:r>
              <a:rPr sz="3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LOAN DEFAULT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</a:pPr>
            <a:r>
              <a:rPr sz="3600" b="1" i="0" u="none" cap="none" spc="0">
                <a:ln>
                  <a:noFill/>
                </a:ln>
                <a:solidFill>
                  <a:srgbClr val="00AEEF"/>
                </a:solidFill>
                <a:latin typeface="Calibri"/>
                <a:ea typeface="Calibri"/>
                <a:cs typeface="Calibri"/>
              </a:rPr>
              <a:t>PREDICTION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2A94ED-E68A-4FD2-8315-10B5D137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60" y="3474720"/>
            <a:ext cx="374904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1E75CE-4AC5-480F-8AE1-67ECFBAB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60" y="3611880"/>
            <a:ext cx="393192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An interpretable credit-scoring model for home-equity lending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9C22B1-BDFF-47AD-8B88-16C2C64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60" y="4462272"/>
            <a:ext cx="3931920" cy="13926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MIT Applied AI &amp; Data Science Program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Capstone Project — Final Presentation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B0B7BC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Lycias Zembe  |  September 2026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4B6F5D0-D67E-4CA7-99DA-4085AE95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6537960"/>
            <a:ext cx="43891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48A7624-9ECD-4E15-A94D-744B4F4D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60" y="6583680"/>
            <a:ext cx="393192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9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Problem → Data → Methods → Models → Results → Impact</a:t>
            </a:r>
          </a:p>
        </p:txBody>
      </p:sp>
      <p:pic>
        <p:nvPicPr>
          <p:cNvPr id="2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b1c61cd2943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4880" y="612649"/>
            <a:ext cx="7816676" cy="62362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709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BA9D28-9BD6-4081-9E4D-D9C76744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64BB44-93D3-48EA-A43A-4F96E3F1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AE9AF8-D6D8-492C-B618-55EF4432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13DA07-1409-42CB-8450-30126BD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B39198-3014-47B9-9DB3-B3FC0F9D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EXECUTIVE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CD8B58-D90F-4611-B16B-76E22802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EE2FBD9-D22B-44D0-ACD3-F75AB21C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Loan Default Prediction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B10DEE8-500F-4690-AB19-44AC10D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AF2232-7D6E-40D8-B18E-5D9491FB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74536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4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042B0D-A827-4D8E-8A18-705C3BA6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16" y="251460"/>
            <a:ext cx="932643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24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Key Findings at a Glance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7F9C115-40C4-4F27-B474-A464D7CF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16" y="644652"/>
            <a:ext cx="9102506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A2127D-1353-4EB6-8E8A-0D6105B6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616" y="1118236"/>
            <a:ext cx="9373096" cy="3834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200"/>
              </a:spcBef>
              <a:spcAft>
                <a:spcPts val="700"/>
              </a:spcAft>
              <a:buClrTx/>
              <a:buSzTx/>
              <a:buFontTx/>
              <a:buNone/>
              <a:defRPr sz="1125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Dataset: 5,960 applicants, 12 predictors and a 19.95% default rate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200"/>
              </a:spcBef>
              <a:spcAft>
                <a:spcPts val="70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Validation design: 60% training, 20% validation and 20% untouched test</a:t>
            </a:r>
            <a:endParaRPr sz="1600" b="0" i="0" u="none" kern="1200" cap="none" spc="0" baseline="0">
              <a:ln>
                <a:noFill/>
              </a:ln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200"/>
              </a:spcBef>
              <a:spcAft>
                <a:spcPts val="700"/>
              </a:spcAft>
              <a:buClrTx/>
              <a:buSzTx/>
              <a:buFontTx/>
              <a:buNone/>
              <a:defRPr sz="1125"/>
            </a:pPr>
            <a:endParaRPr sz="1600" b="0" i="0" u="none" kern="1200" cap="none" spc="0" baseline="0">
              <a:ln>
                <a:noFill/>
              </a:ln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200"/>
              </a:spcBef>
              <a:spcAft>
                <a:spcPts val="700"/>
              </a:spcAft>
              <a:buClrTx/>
              <a:buSzTx/>
              <a:buFontTx/>
              <a:buNone/>
              <a:defRPr sz="1125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Leakage control: preprocessing and SMOTE fitted inside every training fold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200"/>
              </a:spcBef>
              <a:spcAft>
                <a:spcPts val="70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Final candidates: tuned Random Forest and tuned XGBoost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200"/>
              </a:spcBef>
              <a:spcAft>
                <a:spcPts val="70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Selection: highest validation precision with recall of at least 85%</a:t>
            </a:r>
            <a:endParaRPr sz="1600" b="0" i="0" u="none" kern="1200" cap="none" spc="0" baseline="0">
              <a:ln>
                <a:noFill/>
              </a:ln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700"/>
              </a:spcAft>
              <a:buClrTx/>
              <a:buSzTx/>
              <a:buFont typeface="Arial"/>
              <a:buChar char="•"/>
              <a:defRPr sz="1125"/>
            </a:pPr>
            <a:r>
              <a:rPr sz="1600" b="1" i="0" u="none" cap="none" spc="0">
                <a:ln>
                  <a:noFill/>
                </a:ln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Final test: XGBoost at 0.239; ROC-AUC 0.954, AP 0.878, recall 0.824
Illustrative value: $1.50M–$5.20M per 1,000 applications under hypothetical assumptions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B96FF9-E148-4EE5-B4AF-3C923DD1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9" y="4953000"/>
            <a:ext cx="9572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5C65C9F-969E-4544-86DD-6CAB5BAE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40" y="5105400"/>
            <a:ext cx="9572624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/>
            </a:pPr>
            <a:r>
              <a:rPr sz="1500" b="1" i="0" u="none" cap="none" spc="0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RECOMMENDED MODEL: Tuned XGBoost  |  Test ROC-AUC 0.954  |  AP 0.878  |  Threshold 0.239  |  Test recall 0.824</a:t>
            </a:r>
          </a:p>
        </p:txBody>
      </p:sp>
    </p:spTree>
    <p:extLst>
      <p:ext uri="{BB962C8B-B14F-4D97-AF65-F5344CB8AC3E}">
        <p14:creationId xmlns:p14="http://schemas.microsoft.com/office/powerpoint/2010/main" val="5595305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C404DD-DCD9-4EE7-9590-EBB4D820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8A30AB-07B1-4F5B-92E0-B5736D51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A43881-29F2-4412-B213-474BC10E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D8A1C4-470A-4A08-A1C0-94675F3D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9A4DBC-B17B-4A77-BE74-67E99085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3" y="1790700"/>
            <a:ext cx="1626773" cy="2590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PROBLEM,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OBJECTIVE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DATA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9008DFA-AD92-4E4F-9ED7-6BFDB9D5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F387BF-B678-4891-BBAC-0592EF25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97088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Why this matters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1140B4-D994-4453-B51B-CDA21E6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BE9ED10-C0AE-47DF-B309-5FB797C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37960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4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6D9EAC8-E88F-4E21-A1D6-0BF6DAB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350" y="153163"/>
            <a:ext cx="7825074" cy="5032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defRPr sz="1950"/>
            </a:pPr>
            <a:r>
              <a:rPr sz="2400" b="1" i="0" u="none" cap="none" spc="0">
                <a:ln>
                  <a:noFill/>
                </a:ln>
                <a:solidFill>
                  <a:srgbClr val="00AEEF"/>
                </a:solidFill>
                <a:latin typeface="Calibri"/>
                <a:ea typeface="Calibri"/>
                <a:cs typeface="Calibri"/>
              </a:rPr>
              <a:t>Only ~1 in 5 loans default → </a:t>
            </a:r>
            <a:r>
              <a:rPr sz="2400" b="1" i="0" u="none" cap="none" spc="0">
                <a:ln>
                  <a:noFill/>
                </a:ln>
                <a:solidFill>
                  <a:srgbClr val="00AEEF"/>
                </a:solidFill>
                <a:latin typeface="Calibri"/>
                <a:ea typeface="Calibri"/>
                <a:cs typeface="Calibri"/>
              </a:rPr>
              <a:t>optimise</a:t>
            </a:r>
            <a:r>
              <a:rPr sz="2400" b="1" i="0" u="none" cap="none" spc="0">
                <a:ln>
                  <a:noFill/>
                </a:ln>
                <a:solidFill>
                  <a:srgbClr val="00AEEF"/>
                </a:solidFill>
                <a:latin typeface="Calibri"/>
                <a:ea typeface="Calibri"/>
                <a:cs typeface="Calibri"/>
              </a:rPr>
              <a:t> for Recall</a:t>
            </a:r>
          </a:p>
        </p:txBody>
      </p:sp>
      <p:pic>
        <p:nvPicPr>
          <p:cNvPr id="3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651398097492d"/>
          <a:stretch xmlns:a="http://schemas.openxmlformats.org/drawingml/2006/main"/>
        </p:blipFill>
        <p:spPr>
          <a:xfrm xmlns:a="http://schemas.openxmlformats.org/drawingml/2006/main">
            <a:off x="2102390" y="698741"/>
            <a:ext cx="7974297" cy="3584995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9DB0D5-3C0F-4821-8789-96248252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316" y="4210813"/>
            <a:ext cx="4529326" cy="2135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lnSpcReduction="10000"/>
          </a:bodyPr>
          <a:lstStyle xmlns:a="http://schemas.openxmlformats.org/drawingml/2006/main"/>
          <a:p xmlns:a="http://schemas.openxmlformats.org/drawingml/2006/main">
            <a:pPr marL="171450" marR="0" lvl="0" indent="-171450" algn="l" defTabSz="914400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Tx/>
              <a:buSzTx/>
              <a:buFont typeface="Arial"/>
              <a:buChar char="•"/>
              <a:defRPr sz="120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Profit at risk: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interest on home-equity loans drives profit, but defaults (NPAs) erode it — manual approval is slow and biased.</a:t>
            </a:r>
          </a:p>
          <a:p xmlns:a="http://schemas.openxmlformats.org/drawingml/2006/main">
            <a:pPr marL="171450" marR="0" lvl="0" indent="-171450" algn="l" defTabSz="914400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Tx/>
              <a:buSzTx/>
              <a:buFont typeface="Arial"/>
              <a:buChar char="•"/>
              <a:defRPr sz="120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Objective: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predict which applicants will default and identify the features to weigh at approval.</a:t>
            </a:r>
          </a:p>
          <a:p xmlns:a="http://schemas.openxmlformats.org/drawingml/2006/main">
            <a:pPr marL="171450" marR="0" lvl="0" indent="-171450" algn="l" defTabSz="914400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Tx/>
              <a:buSzTx/>
              <a:buFont typeface="Arial"/>
              <a:buChar char="•"/>
              <a:defRPr sz="120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Constraint (ECOA):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under the Equal Credit Opportunity Act, every rejection must be explainable.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251159-A05F-4AD0-98F5-9D9286E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25" y="4558284"/>
            <a:ext cx="235120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D46A8B3-C95D-4786-BA05-E0483E86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25" y="4558284"/>
            <a:ext cx="61579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8B1208A-CB79-44FC-8ACF-8DACDEDC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579" y="4631436"/>
            <a:ext cx="214966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600" b="1" i="0" u="none" cap="none" spc="0">
                <a:ln>
                  <a:noFill/>
                </a:ln>
                <a:solidFill>
                  <a:srgbClr val="00AEEF"/>
                </a:solidFill>
                <a:latin typeface="Calibri"/>
                <a:ea typeface="Calibri"/>
                <a:cs typeface="Calibri"/>
              </a:rPr>
              <a:t>5,960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34A03EF-016E-4F2A-ABF2-571E6CED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579" y="5070349"/>
            <a:ext cx="214966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loan applicants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44E69BE-79B7-4533-94EC-DCBD7E0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172" y="4530852"/>
            <a:ext cx="235120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D7952D3-42FC-47A0-ADF6-734CE5B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172" y="4558284"/>
            <a:ext cx="61579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844FB8F-BCDA-4665-BD42-8509E04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27" y="4631436"/>
            <a:ext cx="214966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600" b="1" i="0" u="none" cap="none" spc="0">
                <a:ln>
                  <a:noFill/>
                </a:ln>
                <a:solidFill>
                  <a:srgbClr val="00AEEF"/>
                </a:solidFill>
                <a:latin typeface="Calibri"/>
                <a:ea typeface="Calibri"/>
                <a:cs typeface="Calibri"/>
              </a:rPr>
              <a:t>19.95%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02860BE-D897-482F-AAED-B7287C3F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27" y="5070349"/>
            <a:ext cx="230081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default rate (imbalanced)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71595A2-CBD9-452E-B271-4D1978A0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25" y="5600700"/>
            <a:ext cx="4870345" cy="7452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 sz="1275"/>
            </a:pPr>
            <a:r>
              <a:rPr sz="14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12 predictors: </a:t>
            </a:r>
            <a:r>
              <a:rPr sz="14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credit </a:t>
            </a:r>
            <a:r>
              <a:rPr sz="14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behaviour</a:t>
            </a:r>
            <a:r>
              <a:rPr sz="14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(DELINQ, DEROG, CLAGE, NINQ, CLNO), capacity (DEBTINC, YOJ), loan/collateral (LOAN, MORTDUE, VALUE), context (REASON, JOB)</a:t>
            </a:r>
          </a:p>
        </p:txBody>
      </p:sp>
    </p:spTree>
    <p:extLst>
      <p:ext uri="{BB962C8B-B14F-4D97-AF65-F5344CB8AC3E}">
        <p14:creationId xmlns:p14="http://schemas.microsoft.com/office/powerpoint/2010/main" val="12569122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FB9F278-21EB-4BEF-B484-E6E5E2AD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DE2103-1FCF-4B4F-8D04-C4EF0C91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A744995-908D-4978-B58E-2B19EEDF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E9874C-3DB6-4AE5-8712-E2B09D74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80185F-A84B-4E56-B700-3ABD8B2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ANALYTICAL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KEY EDA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33E8ED1-791B-4955-9CE1-29742929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8EB337F-6688-4C5C-8F3F-7C21E28D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Methodology &amp; findings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3BD004F-E883-48C5-BC6C-E74F9FF0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021236-1BFA-4D36-BC44-E7631BCF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83680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4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874941B-4681-4DE2-B23B-77C22B91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1001268"/>
            <a:ext cx="151708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4ACA0D5-60F4-4D6C-9E5E-2291C0B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1214480"/>
            <a:ext cx="142751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Inspect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873CFF-2E5C-4309-A710-2645A10F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1872234"/>
            <a:ext cx="151708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2E50A6-E7CC-4A92-86F2-9B1CEC66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2085446"/>
            <a:ext cx="142751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3F69ADB-5940-4EDC-B94D-E6B03536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2743200"/>
            <a:ext cx="151708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AF1858A-136B-4ADD-9E2E-98E0C195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2803863"/>
            <a:ext cx="1427515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Preprocess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&amp; Engineer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F3ACC61-FA34-4978-85AE-2E3C3A6A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3645274"/>
            <a:ext cx="151708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66ABA7C-A491-42F2-B724-5CBBCA1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3705937"/>
            <a:ext cx="1427515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Balance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(SMOTE)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4CEE3C5-EAB4-4CBB-BA77-AFC15EA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4565398"/>
            <a:ext cx="151708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10150D4-6F51-4B97-AB76-553C376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4626061"/>
            <a:ext cx="1427515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&amp; Tune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EF18C4E-379F-4899-A896-4E080CA8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5467472"/>
            <a:ext cx="151708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03FD146-E386-4030-87E4-D98FF4F0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51" y="5528135"/>
            <a:ext cx="1427515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Interpret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&amp; Threshold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B334C05-5CC9-4B59-BC5F-BD56BE8B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447" y="955548"/>
            <a:ext cx="447847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/>
            </a:pPr>
            <a:r>
              <a:rPr sz="16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Methodology principles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8FC7DC8-D1D1-45C3-A966-7685DB8C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447" y="1303019"/>
            <a:ext cx="796117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00DD53C-A6B0-4F12-8581-706EB35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446" y="1431036"/>
            <a:ext cx="8184966" cy="1480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 typeface="Arial"/>
              <a:buChar char="•"/>
              <a:defRPr sz="1125"/>
            </a:pPr>
            <a:r>
              <a:rPr sz="1600" b="0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Business rule: maximize validation precision while maintaining recall of at least 85%.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 typeface="Arial"/>
              <a:buChar char="•"/>
              <a:defRPr sz="1125"/>
            </a:pPr>
            <a:r>
              <a:rPr sz="1600" b="0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Leakage control: preprocessing and SMOTE occur inside each training fold.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 typeface="Arial"/>
              <a:buChar char="•"/>
              <a:defRPr sz="1125"/>
            </a:pPr>
            <a:r>
              <a:rPr sz="1600" b="0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Locked evaluation: validation selects the model and threshold; the test set is used once.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1000"/>
              </a:spcAft>
              <a:buClrTx/>
              <a:buSzTx/>
              <a:buFont typeface="Arial"/>
              <a:buChar char="•"/>
              <a:defRPr sz="1125"/>
            </a:pPr>
            <a:r>
              <a:rPr sz="1600" b="0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Reproducible: random seed 42 governs splits, resampling and model searches.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AEC0BB-C240-47CB-BEAA-13350475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673" y="3324356"/>
            <a:ext cx="4646421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/>
            </a:pPr>
            <a:r>
              <a:rPr sz="16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Strongest signal: prior credit trouble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D3350A9-2E99-43B1-8135-C1C0A1E5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672" y="3671827"/>
            <a:ext cx="8044972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f49fd082d4b25"/>
          <a:stretch xmlns:a="http://schemas.openxmlformats.org/drawingml/2006/main"/>
        </p:blipFill>
        <p:spPr>
          <a:xfrm xmlns:a="http://schemas.openxmlformats.org/drawingml/2006/main">
            <a:off x="4020938" y="3773436"/>
            <a:ext cx="7878502" cy="27907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732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F29528-2850-4B10-A8DB-9A5C9971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992CB3-D82A-4833-91AF-189FF511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05DEDC-C18F-4191-BCB0-AB558F9B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F11B15-5DCF-4B48-B17A-5AF45A5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864ABA-F344-468B-A7DF-D7DB1F5E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0"/>
            <a:ext cx="1504950" cy="2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PREPROCESSING,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FEATURES &amp;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MODELLING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AE64A3E-FD34-4FC3-A957-AB6F7D84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06D783-3E4E-4C01-A76C-B8F5D50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633664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Depth of analysis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43492F-14DB-4610-A9E3-7E67F8A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4EC2AE-82FB-40D6-AB53-E9541AFD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19672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29F229-40A5-4762-8413-5993D3EA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78892"/>
            <a:ext cx="3064025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24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Leakage control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C9C026-A564-46B1-AC4E-28436C9E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836676"/>
            <a:ext cx="2952063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F90EA4B-4F47-4479-B4E7-A72E7A59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1001268"/>
            <a:ext cx="3064025" cy="25648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60/20/20 stratified split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Median/mode imputation inside folds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One-hot encoding for categories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Scaling fitted inside folds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SMOTE fitted inside folds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D5978BC-7068-47CA-B794-646297EF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016" y="278892"/>
            <a:ext cx="3064025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24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Validation design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C67495B-5FB6-41DC-873E-1213161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016" y="836676"/>
            <a:ext cx="2952063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34A10E-DC27-4698-89E2-8563829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016" y="1001268"/>
            <a:ext cx="3064025" cy="25648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Five-fold cross-validation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Tune on Average Precision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Validation selects threshold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Recall requirement at least 85%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Test set evaluated once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50F5913-C4BE-41E2-AA68-E0A82F64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199" y="278892"/>
            <a:ext cx="3064025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24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Model ladder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25112EE-79BD-4336-AA9D-8BDB859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199" y="836676"/>
            <a:ext cx="2952063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0BDE28D-E109-4111-8597-C19AD20A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199" y="1001268"/>
            <a:ext cx="3064025" cy="25648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Final candidates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Tuned Random Forest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Tuned XGBoost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Selection based on validation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Test confirms generalisation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0A31386-6C65-4A80-B7EC-039BC52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9" y="4374643"/>
            <a:ext cx="9572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0146B17-24E8-47B3-B6E3-F3E60F3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339" y="4547617"/>
            <a:ext cx="919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2400" b="1" i="0" u="none" cap="none" spc="0">
                <a:ln>
                  <a:noFill/>
                </a:ln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Final pipelines fit every preprocessing and SMOTE step inside the training folds. XGBoost provides the strongest validation trade-off. Explanations support review but do not establish compliance.</a:t>
            </a:r>
          </a:p>
        </p:txBody>
      </p:sp>
    </p:spTree>
    <p:extLst>
      <p:ext uri="{BB962C8B-B14F-4D97-AF65-F5344CB8AC3E}">
        <p14:creationId xmlns:p14="http://schemas.microsoft.com/office/powerpoint/2010/main" val="17969198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531FE9-038A-4403-A36E-8FDDDC4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F61B6E5-3A2F-48CB-899F-0F66BC3B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9893D5-0F18-4477-B3EB-134DB80C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665923-CF63-407A-AD7E-3B4DFCD0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A0A3E19-ECC9-48AF-B8A0-90185C0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2363F62-EBB6-44A9-B600-7C3FE7E9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DA8FC6-8EBD-4292-8F71-2663AF88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Understanding the solution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3C6340-1895-4100-8104-7F11B945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63CB684-CACA-4AE1-9FFA-02DFA999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10528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E9C41B-12F9-4247-8D59-574F6A63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4884"/>
            <a:ext cx="9460785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Performance Summary — Test Set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0C155E6-D902-498A-B57A-C8B898A7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80644"/>
            <a:ext cx="9236861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28" name="Table 12"/>
          <p:cNvGraphicFramePr/>
          <p:nvPr/>
        </p:nvGraphicFramePr>
        <p:xfrm>
          <a:off xmlns:a="http://schemas.openxmlformats.org/drawingml/2006/main" x="2505831" y="662940"/>
          <a:ext xmlns:a="http://schemas.openxmlformats.org/drawingml/2006/main" cx="7726678" cy="1884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642"/>
                <a:gridCol w="1404850"/>
                <a:gridCol w="1404850"/>
                <a:gridCol w="1545336"/>
              </a:tblGrid>
              <a:tr h="3474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 / operating point</a:t>
                      </a:r>
                    </a:p>
                  </a:txBody>
                  <a:tcPr marL="76200" marR="50800" marT="63500" marB="63500" anchor="ctr">
                    <a:solidFill>
                      <a:srgbClr val="00A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6200" marR="50800" marT="63500" marB="63500" anchor="ctr">
                    <a:solidFill>
                      <a:srgbClr val="00A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6200" marR="50800" marT="63500" marB="63500" anchor="ctr">
                    <a:solidFill>
                      <a:srgbClr val="00A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marL="76200" marR="50800" marT="63500" marB="63500" anchor="ctr">
                    <a:solidFill>
                      <a:srgbClr val="00AE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XGBoost, locked 0.239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0.824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0.786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0.954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Forest, locked 0.408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0.815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0.782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0.962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XGBoost, standard 0.50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0.714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0.782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0.954</a:t>
                      </a:r>
                    </a:p>
                  </a:txBody>
                  <a:tcPr marL="76200" marR="50800" marT="63500" marB="635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Forest, standard 0.50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0.723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0.751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</a:rPr>
                        <a:t>0.962</a:t>
                      </a:r>
                    </a:p>
                  </a:txBody>
                  <a:tcPr marL="76200" marR="50800" marT="63500" marB="63500" anchor="ctr">
                    <a:solidFill>
                      <a:srgbClr val="EDF7F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DA43A3-4938-45F5-9DEA-DF9D3773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130" y="2693639"/>
            <a:ext cx="9745870" cy="925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171450" marR="0" lvl="0" indent="-171450" algn="l" defTabSz="914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Selected: tuned XGBoost based on validation precision at the 85% recall requirement.</a:t>
            </a:r>
          </a:p>
          <a:p xmlns:a="http://schemas.openxmlformats.org/drawingml/2006/main">
            <a:pPr marL="171450" marR="0" lvl="0" indent="-171450" algn="l" defTabSz="914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Tx/>
              <a:buFont typeface="Arial"/>
              <a:buChar char="•"/>
              <a:defRPr sz="1050"/>
            </a:pPr>
            <a:r>
              <a:rPr sz="1600" b="0" i="0" u="none" cap="none" spc="0">
                <a:ln>
                  <a:noFill/>
                </a:ln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Untouched test: ROC-AUC 0.954, Average Precision 0.878, recall 0.824, precision 0.751 and F1 0.786.</a:t>
            </a:r>
          </a:p>
          <a:p xmlns:a="http://schemas.openxmlformats.org/drawingml/2006/main">
            <a:pPr marL="171450" marR="0" lvl="0" indent="-171450" algn="l" defTabSz="914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SHAP can support explanations; compliance also requires governance, fairness testing and legal review.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2769489" y="3812286"/>
          <a:ext xmlns:a="http://schemas.openxmlformats.org/drawingml/2006/main" cx="738187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ce7c6fa56e41cc"/>
          </a:graphicData>
        </a:graphic>
      </p:graphicFrame>
    </p:spTree>
    <p:extLst>
      <p:ext uri="{BB962C8B-B14F-4D97-AF65-F5344CB8AC3E}">
        <p14:creationId xmlns:p14="http://schemas.microsoft.com/office/powerpoint/2010/main" val="1810696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06376D-372E-492E-825D-028C922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0FF04D-82DF-4170-BFEA-DCFB24A8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72BBFE6-8443-45F6-9721-9EE70BB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3C01EF7-D436-4AAE-8C56-06A54B40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C57AC2-4477-4720-A112-DCC6CE8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615376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THRESHOLD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KEY INSIGHTS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46B69CD-A91A-4FC7-89AA-A9941903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8E50372-F6BA-4728-8A25-2C74C4EB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615376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Turning the model into a business lever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FFD4E1-0D57-48A3-845B-F4FAE7F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C72307A-4810-4D0C-A289-DB59BE0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19671"/>
            <a:ext cx="4925247" cy="314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BF789E-98C7-4031-8FE1-CDD880B1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214884"/>
            <a:ext cx="4366516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Key Insights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A17300C-1B7F-43CF-AC22-CB1CBC30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626364"/>
            <a:ext cx="86868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0720C7-7CD6-4C49-85C7-00D8A665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0" y="708661"/>
            <a:ext cx="9136911" cy="1476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 defTabSz="914400">
              <a:lnSpc>
                <a:spcPct val="100000"/>
              </a:lnSpc>
              <a:spcBef>
                <a:spcPts val="200"/>
              </a:spcBef>
              <a:spcAft>
                <a:spcPts val="1100"/>
              </a:spcAft>
              <a:buClrTx/>
              <a:buSzTx/>
              <a:buFont typeface="+mj-lt"/>
              <a:buAutoNum type="arabicParenR"/>
              <a:defRPr sz="1050"/>
            </a:pPr>
            <a:r>
              <a:rPr sz="1600" b="1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Tuned XGBoost remains the selected model under leakage-resistant validation.</a:t>
            </a:r>
          </a:p>
          <a:p xmlns:a="http://schemas.openxmlformats.org/drawingml/2006/main">
            <a:pPr marL="228600" marR="0" lvl="0" indent="-228600" algn="l" defTabSz="914400">
              <a:lnSpc>
                <a:spcPct val="100000"/>
              </a:lnSpc>
              <a:spcBef>
                <a:spcPts val="200"/>
              </a:spcBef>
              <a:spcAft>
                <a:spcPts val="1100"/>
              </a:spcAft>
              <a:buClrTx/>
              <a:buSzTx/>
              <a:buFont typeface="+mj-lt"/>
              <a:buAutoNum type="arabicParenR"/>
              <a:defRPr sz="1050"/>
            </a:pPr>
            <a:r>
              <a:rPr sz="1600" b="1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Validation selected the locked threshold of 0.239, reported as 0.24.</a:t>
            </a:r>
          </a:p>
          <a:p xmlns:a="http://schemas.openxmlformats.org/drawingml/2006/main">
            <a:pPr marL="228600" marR="0" lvl="0" indent="-228600" algn="l" defTabSz="914400">
              <a:lnSpc>
                <a:spcPct val="100000"/>
              </a:lnSpc>
              <a:spcBef>
                <a:spcPts val="200"/>
              </a:spcBef>
              <a:spcAft>
                <a:spcPts val="1100"/>
              </a:spcAft>
              <a:buClrTx/>
              <a:buSzTx/>
              <a:buFont typeface="+mj-lt"/>
              <a:buAutoNum type="arabicParenR"/>
              <a:defRPr sz="1050"/>
            </a:pPr>
            <a:r>
              <a:rPr sz="1600" b="1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Test recall is 0.824, below validation recall of 0.853 because of normal sampling variation.</a:t>
            </a:r>
          </a:p>
          <a:p xmlns:a="http://schemas.openxmlformats.org/drawingml/2006/main">
            <a:pPr marL="228600" marR="0" lvl="0" indent="-228600" algn="l" defTabSz="914400">
              <a:lnSpc>
                <a:spcPct val="100000"/>
              </a:lnSpc>
              <a:spcBef>
                <a:spcPts val="200"/>
              </a:spcBef>
              <a:spcAft>
                <a:spcPts val="1100"/>
              </a:spcAft>
              <a:buClrTx/>
              <a:buSzTx/>
              <a:buFont typeface="+mj-lt"/>
              <a:buAutoNum type="arabicParenR"/>
              <a:defRPr sz="1050"/>
            </a:pPr>
            <a:r>
              <a:rPr sz="1600" b="1" i="0" u="none" cap="none" spc="0">
                <a:ln>
                  <a:noFill/>
                </a:ln>
                <a:latin typeface="Calibri"/>
                <a:ea typeface="Calibri"/>
                <a:cs typeface="Calibri"/>
              </a:rPr>
              <a:t>A bank cost matrix and external temporal validation should precede deployment.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01B61B1-695A-4DC7-B8B0-94C7F468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669" y="5852160"/>
            <a:ext cx="2463163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BF6CC75-16BC-4FB4-8914-3BDFE658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669" y="5852160"/>
            <a:ext cx="61579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39F041-A574-4337-BCF6-4BF50769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024" y="5925313"/>
            <a:ext cx="2261631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00" b="1" i="0" u="none" cap="none" spc="0">
                <a:ln>
                  <a:noFill/>
                </a:ln>
                <a:solidFill>
                  <a:srgbClr val="00AEEF"/>
                </a:solidFill>
                <a:latin typeface="Calibri"/>
                <a:ea typeface="Calibri"/>
                <a:cs typeface="Calibri"/>
              </a:rPr>
              <a:t>0.71 → 0.82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B50DB2B-CDBF-4A33-B482-CCDBBB2A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024" y="6389847"/>
            <a:ext cx="226163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test recall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7053BE-3F58-4544-A4F7-00B702CD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578" y="5852160"/>
            <a:ext cx="173541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92722FB-FB5C-40C2-BE3E-15CE2D93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579" y="5852160"/>
            <a:ext cx="61579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6A8F54D-9F79-4FEC-9B20-E02CD13D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933" y="5925313"/>
            <a:ext cx="1533879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6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0.954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900AB52-0958-47D6-8E92-65922D5C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933" y="6389847"/>
            <a:ext cx="153387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ROC-AUC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F7BF61D-DEB5-4CE6-98C2-FBEDB419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749" y="2474773"/>
            <a:ext cx="6528523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99244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Locked cutoff 0.239 identifies 196 of 238 defaulters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567FB36-4FDB-4B40-A780-E0C04743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748" y="2886253"/>
            <a:ext cx="86868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2753398" y="3145254"/>
          <a:ext xmlns:a="http://schemas.openxmlformats.org/drawingml/2006/main" cx="8191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eb1bf9ceda41cc"/>
          </a:graphicData>
        </a:graphic>
      </p:graphicFrame>
    </p:spTree>
    <p:extLst>
      <p:ext uri="{BB962C8B-B14F-4D97-AF65-F5344CB8AC3E}">
        <p14:creationId xmlns:p14="http://schemas.microsoft.com/office/powerpoint/2010/main" val="18009699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7602472-95B2-43E6-A776-A2EECC9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62713-48A3-47C0-929C-964536EF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8061424-3660-4F87-AAF8-453E2C42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77C87-2DEB-4912-A328-1675C32E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F3AB156-B138-4225-806D-2D5E30A9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0"/>
            <a:ext cx="1504950" cy="2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RECOMMENDATIONS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BUSINESS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IMPACT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61259F-6E1B-4185-B0B4-9E9C8D3F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FA55000-C752-4ED3-BDED-8CD9C6CD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What the bank should do and gain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E95B35-83A3-4560-892A-E0640FA2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23E70C4-E025-44A2-86C4-19F19FEF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37960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AC2D98A-DFB1-42D2-AB82-B663151A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3" y="238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Operational Recommendations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8712230-44CF-462E-8D37-20BCFA98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4" y="666750"/>
            <a:ext cx="5095875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382BED-D0C7-4383-800A-0814130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3" y="81915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Pilot tuned XGBoost as a first-pass screen at threshold 0.239.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Validate the cutoff using actual default-loss and false-rejection costs.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Route flagged cases to documented human review.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Tx/>
              <a:buSzTx/>
              <a:buFont typeface="Arial"/>
              <a:buChar char="•"/>
              <a:defRPr sz="105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Monitor calibration, subgroup fairness and drift before retraining.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84384B-EFAE-422B-BBB4-D86A5E69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3" y="3314701"/>
            <a:ext cx="51435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/>
            </a:pPr>
            <a:r>
              <a:rPr sz="16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Decision workflow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303919C-0948-4B9B-BFB2-DA09CD8A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3" y="3829050"/>
            <a:ext cx="110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FC6F2D-F3DB-463A-A6E8-6EE9A532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613" y="3895726"/>
            <a:ext cx="990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FLAG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8E071C6-5BB9-452D-8C1A-5EE5D2E6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95724"/>
            <a:ext cx="4143375" cy="42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Probability ≥ 0.239 → documented human review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2E2B5B-E809-4B63-B247-F94A190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3" y="4400550"/>
            <a:ext cx="110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8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86644F-7784-4502-BE68-25F0DC6F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613" y="4467226"/>
            <a:ext cx="990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13830C0-4080-42E8-9706-EF7AD4CC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67224"/>
            <a:ext cx="4143375" cy="42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Assess affordability, collateral and applicable policy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A0A0472-8D55-46ED-B927-326F9BE4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3" y="4972050"/>
            <a:ext cx="1104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EF55B57-7D2B-4C61-ABCB-EAB7F574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613" y="5038726"/>
            <a:ext cx="990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TRACK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70FB0AA-D7A0-4C8A-9A43-375103B6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38724"/>
            <a:ext cx="4143375" cy="42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Track calibration, fairness and performance drift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1C54D16-CFAC-4680-9F1D-D01D0D9B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113" y="238125"/>
            <a:ext cx="4560887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Illustrative business value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2575232-19BF-4094-8CF7-5875338F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9" y="662940"/>
            <a:ext cx="4048125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D1D1901-F8B6-4F4D-8714-873D3CB2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9" y="876300"/>
            <a:ext cx="4303711" cy="354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/>
            </a:pPr>
            <a:r>
              <a:rPr sz="750" b="0" i="1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Sensitivity per 1,000 applications; not confirmed ROI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BECAB0D-E0D3-4AE2-91AA-09E8FC67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9" y="1285875"/>
            <a:ext cx="4048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D0BE101-9A5A-4AE6-B071-7B0A26DE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8" y="1285875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8670ADB-D063-4148-A843-02BEBF3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638" y="14192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/>
            </a:pPr>
            <a:r>
              <a:rPr sz="32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$1.50M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0F0ABB2-9CF3-409C-90CF-EC1C03E3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638" y="2028826"/>
            <a:ext cx="36195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conservative scenario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982A07A-0359-4B8B-BB9F-3F8168FF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9" y="2781300"/>
            <a:ext cx="4048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BFF2E6F-9451-4540-8D9C-B998CE0F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8" y="27813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AA2D8C9-8CF3-4152-831E-2E53082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638" y="2914651"/>
            <a:ext cx="36195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$3.38M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7E1B2DA-BB4E-4E57-B6A6-FF05E286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638" y="3524251"/>
            <a:ext cx="36195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base illustration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1CC378F-BD31-47C2-9030-DDE7378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9" y="4276725"/>
            <a:ext cx="4048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D4C5122F-1801-47A4-A450-50E49B04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88" y="4276725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B193E0C4-92F4-4740-B37C-E2F1F001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638" y="4410076"/>
            <a:ext cx="36195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$5.20M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DDFA551-2D62-466A-B489-7DFECF36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638" y="5019676"/>
            <a:ext cx="36195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favourable scenario</a:t>
            </a:r>
          </a:p>
        </p:txBody>
      </p:sp>
    </p:spTree>
    <p:extLst>
      <p:ext uri="{BB962C8B-B14F-4D97-AF65-F5344CB8AC3E}">
        <p14:creationId xmlns:p14="http://schemas.microsoft.com/office/powerpoint/2010/main" val="1399895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3416E-7E61-4F94-847D-A98C7647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7F9812C-3ED3-4CDA-9F94-E0134C8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0F268E4-FD2D-473E-BA15-4CF388E1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752ABF8-90C1-4953-B2F2-CA6F7F5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6013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44C1173-A1B3-43CE-B811-207C0708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RISKS,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 sz="1350" b="1">
                <a:solidFill>
                  <a:srgbClr val="FFFFFF"/>
                </a:solidFill>
              </a:defRPr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NEXT STEPS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E5D8F8A-B4A2-41D6-937F-BAF17375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200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6E9675-5EBA-48C7-8B13-FC1EAF4C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Honest limits and the road ahead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3F73E1D-E053-48B8-8556-8C960757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726795F-6A7F-46C7-A8E8-F0A8DDA9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01384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003E2F-7169-4D08-81CC-4356D8EF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288036"/>
            <a:ext cx="4573646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Risks &amp; limitations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326BB7A-8328-45EA-B556-16E77B1A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745236"/>
            <a:ext cx="44616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5F5640-5581-4C66-976D-A8D71B6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0" y="1101852"/>
            <a:ext cx="4695397" cy="2807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0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SMOTE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samples may not reflect emerging default patterns.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0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Imputation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of ~21% DEBTINC can bias despite the missingness flag.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0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Survivorship bias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— only approved applicants in the training data.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00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Concept drift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— economic shifts change default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behaviour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 over time.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49E6D6-8C90-412F-994E-AB89FDDE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71" y="288036"/>
            <a:ext cx="4573646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Further analysis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D0CC54E-6CBE-48F3-A030-8CA1EFDF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71" y="745236"/>
            <a:ext cx="44616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08A6CE-CEA1-4200-99AE-BDAB79DB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70" y="1106424"/>
            <a:ext cx="4695397" cy="2807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75"/>
            </a:pPr>
            <a:r>
              <a:rPr sz="1600" b="0" i="0" u="none" cap="none" spc="0">
                <a:ln>
                  <a:noFill/>
                </a:ln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LightGBM</a:t>
            </a:r>
            <a:r>
              <a:rPr sz="1600" b="0" i="0" u="none" cap="none" spc="0">
                <a:ln>
                  <a:noFill/>
                </a:ln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600" b="0" i="0" u="none" cap="none" spc="0">
                <a:ln>
                  <a:noFill/>
                </a:ln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CatBoost</a:t>
            </a:r>
            <a:r>
              <a:rPr sz="1600" b="0" i="0" u="none" cap="none" spc="0">
                <a:ln>
                  <a:noFill/>
                </a:ln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+ probability calibration.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75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Cost-sensitive learning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with an explicit cost matrix.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75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Richer data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— credit-bureau &amp; macroeconomic indicators.</a:t>
            </a:r>
          </a:p>
          <a:p xmlns:a="http://schemas.openxmlformats.org/drawingml/2006/main">
            <a:pPr marL="285750" marR="0" lvl="0" indent="-285750" algn="l" defTabSz="914400">
              <a:lnSpc>
                <a:spcPct val="100000"/>
              </a:lnSpc>
              <a:spcBef>
                <a:spcPts val="200"/>
              </a:spcBef>
              <a:spcAft>
                <a:spcPts val="900"/>
              </a:spcAft>
              <a:buClrTx/>
              <a:buSzTx/>
              <a:buFont typeface="Arial"/>
              <a:buChar char="•"/>
              <a:defRPr sz="1275"/>
            </a:pPr>
            <a:r>
              <a:rPr sz="1600" b="1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Real-time scoring API </a:t>
            </a:r>
            <a:r>
              <a:rPr sz="1600" b="0" i="0" u="none" cap="none" spc="0">
                <a:ln>
                  <a:noFill/>
                </a:ln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with data-drift monitoring.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374EF49-A393-4B8E-A66F-95594BE3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9" y="4224528"/>
            <a:ext cx="9572625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8CC6A7-C013-48BE-8AA2-2499A08B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339" y="4457700"/>
            <a:ext cx="9191625" cy="1559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Recommendation: pilot tuned XGBoost at threshold 0.239 with documented human review. Complete cost, calibration, fairness, governance and legal checks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7305308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93D894-374C-4D77-911F-366822AF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" y="63094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039570C-5988-4ABF-BC2C-1AA1C630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35661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B124E33-FEB8-4683-91EA-4AC2C43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748" y="1783080"/>
            <a:ext cx="50292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83A13C4-5B62-41CB-847E-4623741A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16" y="2286000"/>
            <a:ext cx="804672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9A474B9-826E-434C-8C68-B394BA96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16" y="3474721"/>
            <a:ext cx="6217920" cy="34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59602A-9D1A-4CC3-A5E2-78541CEC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16" y="4498849"/>
            <a:ext cx="804672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/>
            </a:pPr>
            <a:r>
              <a:rPr sz="2400" b="0" i="1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Pilot tuned XGBoost at threshold 0.239; validate costs, calibration and fairness before deployment.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08E8F4-755E-4C61-8A76-027F78A5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16" y="5577841"/>
            <a:ext cx="828446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Lycias Zembe  |  MIT Applied AI &amp; Data Science Program  |  2026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7986D93-3AE2-483D-86AB-07EA3FFD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1900" y="6437376"/>
            <a:ext cx="41148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14987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7C592D-EA53-4575-B79E-2C27962B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F60047-77AA-407A-B0CC-9725BC7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B26DC5-4CE0-4465-8A06-94584D2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CBA2D25-7F6F-4E18-9732-ECE10C1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B4105A-D6A5-4F11-BC68-21E7A88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2000250"/>
            <a:ext cx="1504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FFFFFF"/>
                </a:solidFill>
              </a:defRPr>
            </a:pPr>
            <a:r>
              <a:rPr sz="1725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0CCA902-0A92-4919-BD30-8EF7F7D4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412AB5B-0F53-4422-B18A-2F17A895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Q&amp;A backup slides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ED0509A-CECA-47E1-B007-7F615B0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64389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78F45A-E1F5-4199-A586-C403C596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83680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F52CA4B-FF3E-4427-B6B0-84A24F1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338" y="91440"/>
            <a:ext cx="9998202" cy="649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55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A0F7E8D-6486-4996-AC50-D6368004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2240280"/>
            <a:ext cx="9516766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20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9B496D7-7ED3-40F1-B208-5AA6CFF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919" y="3246120"/>
            <a:ext cx="761341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7C3892C-B871-4046-858F-1A86F8E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3383280"/>
            <a:ext cx="9516766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Additional Resource Slides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490ECC-5319-47F4-BFCF-7C08DF05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4005073"/>
            <a:ext cx="9516766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9BA8BB"/>
                </a:solidFill>
                <a:latin typeface="Calibri"/>
                <a:ea typeface="Calibri"/>
                <a:cs typeface="Calibri"/>
              </a:rPr>
              <a:t>Available on request during Q&amp;A</a:t>
            </a:r>
          </a:p>
        </p:txBody>
      </p:sp>
    </p:spTree>
    <p:extLst>
      <p:ext uri="{BB962C8B-B14F-4D97-AF65-F5344CB8AC3E}">
        <p14:creationId xmlns:p14="http://schemas.microsoft.com/office/powerpoint/2010/main" val="14866552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A975CF-228E-4A60-9FD1-A1E42412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B3570A-FFA5-4523-A8C1-62E769D6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747999-ED66-43BA-A53A-8453A479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9A89E4-F481-4CF0-8EBA-0D2EAB0F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7850C3-1A5B-4F4B-B65B-755F187F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QUALITY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E34884-8BAC-44FB-B28B-33A45AD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251039-2210-4442-8598-3C32E07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Missing values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59FD29-BE9A-4BF7-89C6-BFFDBDB9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9EF67F-2123-4198-A293-688F37C3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10528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79A638-4A32-426C-A65B-81AB9121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Missing Value Analysis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18441F1-5716-479D-9B19-64FC3370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991aa0e7c431e"/>
          <a:stretch xmlns:a="http://schemas.openxmlformats.org/drawingml/2006/main"/>
        </p:blipFill>
        <p:spPr>
          <a:xfrm xmlns:a="http://schemas.openxmlformats.org/drawingml/2006/main">
            <a:off x="2505831" y="733856"/>
            <a:ext cx="9516766" cy="4622193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FB3002F-5369-45AD-AC4F-A379427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440680"/>
            <a:ext cx="9572747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1A1A2A"/>
                </a:solidFill>
                <a:latin typeface="Calibri"/>
                <a:ea typeface="Calibri"/>
                <a:cs typeface="Calibri"/>
              </a:rPr>
              <a:t>Key Finding: DEBTINC missing 21.3%, MORTDUE missing 6.2%, VALUE missing 6.4%.  Variables with &gt;30% missing were excluded from modelling.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8D95C82-2BBC-48A5-8800-4B69236A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6124144"/>
            <a:ext cx="9516766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Source: Original HMEQ home-equity loan dataset (n = 5,960 observations)</a:t>
            </a:r>
          </a:p>
        </p:txBody>
      </p:sp>
    </p:spTree>
    <p:extLst>
      <p:ext uri="{BB962C8B-B14F-4D97-AF65-F5344CB8AC3E}">
        <p14:creationId xmlns:p14="http://schemas.microsoft.com/office/powerpoint/2010/main" val="896563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24E66D-A5B5-43EA-989B-6A14309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106637-8812-45C9-B366-6DE56D70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172774-15A1-4D64-8186-C0F05327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207CF9-EFA8-489C-A9DA-DAF25478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E7F14D-9C5F-4518-9CF7-544430E7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QUALITY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71B61D5-D989-4550-9CBA-002C7D7C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9764CA-A708-4EC8-AAEB-B4A7931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Outlier treatment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20EF81-3506-4412-83F2-EA16C981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8473F90-13D7-4B7D-8D97-89D2C201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28816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DC790A-0D9C-4182-9382-9E36A0A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Outlier Detection &amp; Treatment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E013D9B-478D-4DDD-987E-C20B645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2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e953b33b54de7"/>
          <a:stretch xmlns:a="http://schemas.openxmlformats.org/drawingml/2006/main"/>
        </p:blipFill>
        <p:spPr>
          <a:xfrm xmlns:a="http://schemas.openxmlformats.org/drawingml/2006/main">
            <a:off x="2011818" y="1114539"/>
            <a:ext cx="5054686" cy="2011380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b1099bcfd4365"/>
          <a:stretch xmlns:a="http://schemas.openxmlformats.org/drawingml/2006/main"/>
        </p:blipFill>
        <p:spPr>
          <a:xfrm xmlns:a="http://schemas.openxmlformats.org/drawingml/2006/main">
            <a:off x="7119963" y="1114539"/>
            <a:ext cx="5054686" cy="2011380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B3F2FD4-4FBD-48CD-9111-8531BB69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4050792"/>
            <a:ext cx="459044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Before Treatment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CF8294-153F-4117-BAF3-C5BB503B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138" y="4050792"/>
            <a:ext cx="459044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After IQR Capping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5EEC9CB-DC23-4D44-9387-3E1B81BC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4507992"/>
            <a:ext cx="9572747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906214-DF85-4688-B8E4-81D0362B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186" y="4581144"/>
            <a:ext cx="930403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Outliers capped at 1.5×IQR boundaries to preserve distributional shape while eliminating extreme values that would distort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301695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6EC3DC-4747-4E97-A83E-B5709133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23832B9-90E6-4EE9-BFDE-91D0789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BC0D86-BA4B-4F9F-91CC-803F738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6F68CA-2B87-4611-B68E-6929DD3D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FD95AA-3CB5-4A6E-8607-893C4F7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EB9C4D-0C58-4E2A-8C3A-0002BA6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A774B24-AB1B-4B07-B626-E2C2D1E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Univariate analysis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A641F3-9179-4D6E-B899-C89117B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ECE6F4-1B35-4478-A07C-EDC08C9D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483096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062516-4568-4950-9FA8-FBBB7946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Variable Distributions (Key Predictors)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412A94A-3FC5-463D-A308-2441ABE2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fa419fede4f1a"/>
          <a:stretch xmlns:a="http://schemas.openxmlformats.org/drawingml/2006/main"/>
        </p:blipFill>
        <p:spPr>
          <a:xfrm xmlns:a="http://schemas.openxmlformats.org/drawingml/2006/main">
            <a:off x="2237597" y="717804"/>
            <a:ext cx="9840982" cy="3992412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C750C8-32C1-47EC-B203-86C83213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76" y="5175504"/>
            <a:ext cx="9572747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1A1A2A"/>
                </a:solidFill>
                <a:latin typeface="Calibri"/>
                <a:ea typeface="Calibri"/>
                <a:cs typeface="Calibri"/>
              </a:rPr>
              <a:t>Right-skewed distributions in financial variables (LOAN, MORTDUE, VALUE, DEBTINC) suggest log-transformation opportunity.  Normal distributions in credit history length (CLAGE).</a:t>
            </a:r>
          </a:p>
        </p:txBody>
      </p:sp>
    </p:spTree>
    <p:extLst>
      <p:ext uri="{BB962C8B-B14F-4D97-AF65-F5344CB8AC3E}">
        <p14:creationId xmlns:p14="http://schemas.microsoft.com/office/powerpoint/2010/main" val="18320670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A16B2F-E350-4FB1-9B06-7A6DB8F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B171F4-B874-4AE7-93E3-EEFD030E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3F7FEE-9A97-467E-AF98-617590D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EFB0603-C403-4A5D-A8CE-937BB526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755CF2-82E3-4775-A0F7-77FFFF86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56BC3B-F628-430E-94FA-2F0DC187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3428AA-892A-4C59-9785-88C98E0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Categorical features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42D262-CA35-4658-BA8A-2FFFFEE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1B86BB-6EDF-49AD-BFE2-A0B78B5F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28816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809613F-BC2B-408E-82AB-9D4825B6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Categorical Feature Analysis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3E0C45-7F50-490B-ADD4-13FA7D6E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b9bf927f04944"/>
          <a:stretch xmlns:a="http://schemas.openxmlformats.org/drawingml/2006/main"/>
        </p:blipFill>
        <p:spPr>
          <a:xfrm xmlns:a="http://schemas.openxmlformats.org/drawingml/2006/main">
            <a:off x="2108531" y="1208722"/>
            <a:ext cx="9970048" cy="3402332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CE7B8D1-AD5B-4A58-8280-87CAF355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538" y="4974336"/>
            <a:ext cx="9572747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1A1A2A"/>
                </a:solidFill>
                <a:latin typeface="Calibri"/>
                <a:ea typeface="Calibri"/>
                <a:cs typeface="Calibri"/>
              </a:rPr>
              <a:t>Loan purpose and job category show strong segmentation patterns relevant to default risk probability.</a:t>
            </a:r>
          </a:p>
        </p:txBody>
      </p:sp>
    </p:spTree>
    <p:extLst>
      <p:ext uri="{BB962C8B-B14F-4D97-AF65-F5344CB8AC3E}">
        <p14:creationId xmlns:p14="http://schemas.microsoft.com/office/powerpoint/2010/main" val="6421333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E3BE0A-1C58-4929-8897-FFCC6980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8AE7FD-032F-4956-B267-3132DB57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970985-226C-4187-82D4-7D352D2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CCA2B2-8D15-47E7-AC44-23AA872A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B3856F-8A4C-47F9-B39B-20490FBD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7E00070-4EBE-4540-B455-A41641D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59085D-705B-4BBA-9D87-D3F53CBC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Default by category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1FD4956-DE8D-48A2-986D-BC81EFCD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2B91E98-13C5-4266-8907-03DDCC3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28816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F87BC77-326E-428B-8FA3-5B51715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Default Rate Variation Across Categories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E7BDDEB-3A23-416D-A115-73FF480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e59847810416d"/>
          <a:stretch xmlns:a="http://schemas.openxmlformats.org/drawingml/2006/main"/>
        </p:blipFill>
        <p:spPr>
          <a:xfrm xmlns:a="http://schemas.openxmlformats.org/drawingml/2006/main">
            <a:off x="2780152" y="682111"/>
            <a:ext cx="7565547" cy="2578640"/>
          </a:xfrm>
          <a:prstGeom xmlns:a="http://schemas.openxmlformats.org/drawingml/2006/main" prst="rect">
            <a:avLst/>
          </a:prstGeom>
        </p:spPr>
      </p:pic>
      <p:pic>
        <p:nvPicPr>
          <p:cNvPr id="3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a58ef6679480d"/>
          <a:stretch xmlns:a="http://schemas.openxmlformats.org/drawingml/2006/main"/>
        </p:blipFill>
        <p:spPr>
          <a:xfrm xmlns:a="http://schemas.openxmlformats.org/drawingml/2006/main">
            <a:off x="2780152" y="3317384"/>
            <a:ext cx="7565549" cy="2617071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526A36-C7A4-4000-A7FE-6B8BCE14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929883"/>
            <a:ext cx="9572747" cy="5760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1A1A2A"/>
                </a:solidFill>
                <a:latin typeface="Calibri"/>
                <a:ea typeface="Calibri"/>
                <a:cs typeface="Calibri"/>
              </a:rPr>
              <a:t>Derogatory marks and delinquencies show the strongest category-level signal for default risk across all segmentation variables.</a:t>
            </a:r>
          </a:p>
        </p:txBody>
      </p:sp>
    </p:spTree>
    <p:extLst>
      <p:ext uri="{BB962C8B-B14F-4D97-AF65-F5344CB8AC3E}">
        <p14:creationId xmlns:p14="http://schemas.microsoft.com/office/powerpoint/2010/main" val="194898382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C494B5-D424-4FEF-A32A-23E2CA18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AD0D44-8401-4D08-AD05-A0CA9E56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586AE2-EBDB-413A-870D-49BDC33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40FF815-F59B-48F3-825F-4635BA03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9E26B60-4FCA-4DCA-8151-A40FDD6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7E59B18-4E19-42F3-BA4F-B3E95612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3762DA8-AD89-4B0D-B753-DD1C3AE5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Bivariate analysis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7BBF3A-AD32-45F4-856E-1FC49FF0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4BE2837-9C6F-4EAB-9745-E9FEDB57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01384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E173E3B-DF18-477B-9F55-DE9FE15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Feature Distributions by Default Status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12AA16-8128-4521-AC4D-4A6515A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de8099d894c2c"/>
          <a:stretch xmlns:a="http://schemas.openxmlformats.org/drawingml/2006/main"/>
        </p:blipFill>
        <p:spPr>
          <a:xfrm xmlns:a="http://schemas.openxmlformats.org/drawingml/2006/main">
            <a:off x="2434350" y="983194"/>
            <a:ext cx="9644229" cy="3853982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3DB5B62-0998-4BAD-BCB0-BBC6E896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70" y="5714571"/>
            <a:ext cx="9572747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1A1A2A"/>
                </a:solidFill>
                <a:latin typeface="Calibri"/>
                <a:ea typeface="Calibri"/>
                <a:cs typeface="Calibri"/>
              </a:rPr>
              <a:t>Box plots reveal clear separation in debt-to-income ratio and loan amount between default / non-default groups; CLAGE and DEBTINC show strongest separation.</a:t>
            </a:r>
          </a:p>
        </p:txBody>
      </p:sp>
    </p:spTree>
    <p:extLst>
      <p:ext uri="{BB962C8B-B14F-4D97-AF65-F5344CB8AC3E}">
        <p14:creationId xmlns:p14="http://schemas.microsoft.com/office/powerpoint/2010/main" val="14343332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E87527-2F49-4718-9906-6240BB7A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4C8782-4942-425F-95B7-7D71D639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89AC61-4432-4962-9061-21A5148E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A3D30A-2F5D-4FD1-998E-053B041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070FE5-876A-42B3-AFE1-97B2CA1E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D7DFBB2-75C4-43D0-A655-D91D4464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4D0056-23ED-4419-B27A-14FB48E8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Correlation heatmap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02A7186-9019-4F6E-BAA9-904DA15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AE424C-9EC5-419E-B87C-EE02E92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10528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CC7EB74-29AE-4427-9DCE-52860D03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Feature Correlation Matrix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AFBEB6-A37D-4CF5-8A6E-F3D162C6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95aaea9b0497a"/>
          <a:stretch xmlns:a="http://schemas.openxmlformats.org/drawingml/2006/main"/>
        </p:blipFill>
        <p:spPr>
          <a:xfrm xmlns:a="http://schemas.openxmlformats.org/drawingml/2006/main">
            <a:off x="2729099" y="822959"/>
            <a:ext cx="5573653" cy="4818453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8F8498D-5B54-4E4B-A213-466D45E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037" y="5779008"/>
            <a:ext cx="9572747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1A1A2A"/>
                </a:solidFill>
                <a:latin typeface="Calibri"/>
                <a:ea typeface="Calibri"/>
                <a:cs typeface="Calibri"/>
              </a:rPr>
              <a:t>Moderate positive correlations between derogatory marks and delinquencies (r ≈ 0.4).  No severe multicollinearity detected (all VIF values acceptable).</a:t>
            </a:r>
          </a:p>
        </p:txBody>
      </p:sp>
    </p:spTree>
    <p:extLst>
      <p:ext uri="{BB962C8B-B14F-4D97-AF65-F5344CB8AC3E}">
        <p14:creationId xmlns:p14="http://schemas.microsoft.com/office/powerpoint/2010/main" val="3916785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66F3E3-9DD8-4959-8979-12D1BE3B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CD43ED4-F257-445C-85FB-123D359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74C839-F89F-40BF-A719-BD954FC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B25B9FD-068F-4576-9A6F-705EE3AB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AE48CA-7566-4E21-8E91-80D88F5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0D3C57-0E3C-43B9-A7CF-00366989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882991-AFFB-483D-A595-88548F7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Class imbalance handling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BEC536F-63FE-4691-A00A-5FED6B4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28601C-13A3-4031-B1DD-967F0796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28816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F573FC-911B-44EC-9AD7-669AB80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Handling Class Imbalance: SMOTE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50FD993-6208-45EC-8594-E5226F3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2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50ea010674860"/>
          <a:stretch xmlns:a="http://schemas.openxmlformats.org/drawingml/2006/main"/>
        </p:blipFill>
        <p:spPr>
          <a:xfrm xmlns:a="http://schemas.openxmlformats.org/drawingml/2006/main">
            <a:off x="4489134" y="741458"/>
            <a:ext cx="5820698" cy="2514187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952bfbec74c48"/>
          <a:stretch xmlns:a="http://schemas.openxmlformats.org/drawingml/2006/main"/>
        </p:blipFill>
        <p:spPr>
          <a:xfrm xmlns:a="http://schemas.openxmlformats.org/drawingml/2006/main">
            <a:off x="4489134" y="3556080"/>
            <a:ext cx="5820698" cy="1873758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379123C-78B5-4F89-BF14-C88FBE3B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76" y="1392936"/>
            <a:ext cx="20002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Before SMOTE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4F222D4-E5A5-4CB3-BC9D-84702064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76" y="4400169"/>
            <a:ext cx="20002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After SMOTE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348CB35-DE24-49B1-8D61-DF68559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641848"/>
            <a:ext cx="957274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B40CD33-E7C5-42E2-B8F4-1E8B50DB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186" y="5715000"/>
            <a:ext cx="9304038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SMOTE (Synthetic Minority Over-sampling Technique) applied to training set only, preventing data leakage into the test set.</a:t>
            </a:r>
          </a:p>
        </p:txBody>
      </p:sp>
    </p:spTree>
    <p:extLst>
      <p:ext uri="{BB962C8B-B14F-4D97-AF65-F5344CB8AC3E}">
        <p14:creationId xmlns:p14="http://schemas.microsoft.com/office/powerpoint/2010/main" val="92332976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D8A22-B4F2-4E4E-A6D7-5436CBBE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CF6C7E-C958-4104-9DDE-94E16AB4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B5E8E04-438E-4820-8B2D-3CDE71A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7B051EC-B3D3-47BD-97F8-C90888EE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95DE04-E356-4C23-A976-3130872C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35C116-94BD-4F35-B825-440A7068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67D5DC-A599-4C3C-8E9E-6B7237E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All confusion matrices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8B49241-015C-4849-8FD6-FFFF8E83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7D2DA2-9DC1-4B03-B199-6D77566B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10528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10A867-404A-4215-9C8C-4236801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Confusion Matrices — All Models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46E4E5B-2CCC-4570-BC35-30844F76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9F8FE15-08F0-4087-9567-7E8D07B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6135398"/>
            <a:ext cx="957274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★  Final selected model — Tuned XGBoost</a:t>
            </a:r>
          </a:p>
        </p:txBody>
      </p:sp>
      <p:pic>
        <p:nvPicPr>
          <p:cNvPr id="3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5617c014a41cd"/>
          <a:stretch xmlns:a="http://schemas.openxmlformats.org/drawingml/2006/main"/>
        </p:blipFill>
        <p:spPr>
          <a:xfrm xmlns:a="http://schemas.openxmlformats.org/drawingml/2006/main">
            <a:off x="2643040" y="704087"/>
            <a:ext cx="5650567" cy="52974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0646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886B343-5E61-424D-9154-FE57C113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C4A9A9-5660-4944-934F-3F8F8E72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074417-24F8-4E6E-89A5-AC2E58EB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5DE1D33-8A8C-44A9-BE74-5188635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6D51476-CEE2-49C4-98FC-1D28E93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504950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FB29A27-604F-4B84-8C81-DFD00BED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27F62BF-CC61-4A5D-873E-07DD62D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>
                <a:solidFill>
                  <a:srgbClr val="B7C1C7"/>
                </a:solidFill>
              </a:defRPr>
            </a:pPr>
            <a:r>
              <a:rPr sz="105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TEST METRICS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BF147A4-FEA8-44DB-BF9D-334A505C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2C101F-38A7-4F37-BEE4-38D9D36D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492240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48C6CA-0241-4F42-B839-13EC52E6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/>
            </a:pPr>
            <a:r>
              <a:rPr sz="150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Untouched Test Set: Discrimination Metrics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263B09C-5809-43B5-8419-72B9152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AE6290D-F69A-40E9-B4B4-48DF75D5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70" y="5248656"/>
            <a:ext cx="9572747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/>
            </a:pPr>
            <a:r>
              <a:rPr sz="1600" b="0" i="0" u="none" cap="none" spc="0">
                <a:ln>
                  <a:noFill/>
                </a:ln>
                <a:solidFill>
                  <a:srgbClr val="1A1A2A"/>
                </a:solidFill>
                <a:latin typeface="Calibri"/>
                <a:ea typeface="Calibri"/>
                <a:cs typeface="Calibri"/>
              </a:rPr>
              <a:t>On the untouched test set, XGBoost achieves ROC-AUC 0.954 and Average Precision 0.878. Random Forest has slightly higher ROC-AUC, while XGBoost has higher Average Precision and wins the validation decision rule.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2714625" y="1000125"/>
          <a:ext xmlns:a="http://schemas.openxmlformats.org/drawingml/2006/main" cx="8096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61f4d8e49d48c2"/>
          </a:graphicData>
        </a:graphic>
      </p:graphicFrame>
    </p:spTree>
    <p:extLst>
      <p:ext uri="{BB962C8B-B14F-4D97-AF65-F5344CB8AC3E}">
        <p14:creationId xmlns:p14="http://schemas.microsoft.com/office/powerpoint/2010/main" val="76812235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A8E9D8-C4CF-4072-A701-61C9D87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CD5A3F-4C83-40D5-9052-5B06C10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9F0055-8073-4FF1-8880-7D4C651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188D19-A732-47A3-9B4A-BCC089DA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49CF8F0-6E3C-4EC8-8B3F-442C890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1790701"/>
            <a:ext cx="1633664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EXPLAINABILITY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9A3E9AB-FF6D-4489-98F5-BD938B26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460E3A8-965F-4084-936C-A982C686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Feature importance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5F91404-4353-4C7C-8755-0CC43E22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27842FF-1234-4537-BB1C-6F5F1A51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37960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98BB44-103B-47C7-9F0E-20E94183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Feature Importance: MDI vs Permutation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6AA537B-9E6F-4E61-9B27-35C25810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6029AB-120D-4B38-BDC9-EFFD133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1" y="5294376"/>
            <a:ext cx="459044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Gain Importance (XGBoost)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076A41-BB2F-44C8-8A12-1E06690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138" y="5294376"/>
            <a:ext cx="459044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Permutation Importance (Test Set)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B265BBC-2C27-4368-ADBB-1ABFC4FD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660136"/>
            <a:ext cx="957274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7408FF8-72A7-4B30-89A5-DA5E0720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186" y="5733288"/>
            <a:ext cx="9304038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methods agree: debt-to-income disclosure (DEBTINC_MISSING), the DEBTINC value, and recent inquiries (NINQ) are the top predictors of loan default.</a:t>
            </a:r>
          </a:p>
        </p:txBody>
      </p:sp>
      <p:pic>
        <p:nvPicPr>
          <p:cNvPr id="3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2eafe1d2c4ecf"/>
          <a:stretch xmlns:a="http://schemas.openxmlformats.org/drawingml/2006/main"/>
        </p:blipFill>
        <p:spPr>
          <a:xfrm xmlns:a="http://schemas.openxmlformats.org/drawingml/2006/main">
            <a:off x="2764311" y="667512"/>
            <a:ext cx="4082577" cy="4605692"/>
          </a:xfrm>
          <a:prstGeom xmlns:a="http://schemas.openxmlformats.org/drawingml/2006/main" prst="rect">
            <a:avLst/>
          </a:prstGeom>
        </p:spPr>
      </p:pic>
      <p:pic>
        <p:nvPicPr>
          <p:cNvPr id="3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6bd46ded04438"/>
          <a:stretch xmlns:a="http://schemas.openxmlformats.org/drawingml/2006/main"/>
        </p:blipFill>
        <p:spPr>
          <a:xfrm xmlns:a="http://schemas.openxmlformats.org/drawingml/2006/main">
            <a:off x="7743817" y="667512"/>
            <a:ext cx="4088455" cy="46056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226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FA4207-0725-4646-98F4-5CAF082C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0"/>
            <a:ext cx="4608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362782-B20C-4086-92CA-36280232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895" y="0"/>
            <a:ext cx="4881541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D52862E-E00F-4EEA-9D36-33B8130A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36" y="0"/>
            <a:ext cx="440010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7B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4C4894-D5BF-42A0-A060-99289AED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" y="91441"/>
            <a:ext cx="2000250" cy="675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A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F96EED-3643-4D89-AD71-DC1A9674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7" y="1790701"/>
            <a:ext cx="1613067" cy="2238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EXPLAINABILITY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FE99F4-57D6-4504-A579-A1CE474F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343400"/>
            <a:ext cx="150495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90124A9-F576-4DDC-8F99-1991D606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8" y="4457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>
                <a:solidFill>
                  <a:srgbClr val="B7C1C7"/>
                </a:solidFill>
              </a:defRPr>
            </a:pPr>
            <a:r>
              <a:rPr sz="1600" b="0" i="0" u="none" cap="none" spc="0">
                <a:ln>
                  <a:noFill/>
                </a:ln>
                <a:solidFill>
                  <a:srgbClr val="B7C1C7"/>
                </a:solidFill>
                <a:latin typeface="Calibri"/>
                <a:ea typeface="Calibri"/>
                <a:cs typeface="Calibri"/>
              </a:rPr>
              <a:t>SHAP analysis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9B1241-C94E-46AC-958D-EFA4F7DF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28" y="6473952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B0B7B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5499184-799B-493C-A201-2B928C76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06" y="6528816"/>
            <a:ext cx="9382411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75"/>
            </a:pPr>
            <a:r>
              <a:rPr sz="1600" b="0" i="0" u="none" cap="none" spc="0">
                <a:ln>
                  <a:noFill/>
                </a:ln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Loan Default Prediction  |  MIT AAIDSP Capstone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C9F4D5-87A0-49A8-8F1B-F309E79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210312"/>
            <a:ext cx="9572747" cy="388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/>
            </a:pPr>
            <a:r>
              <a:rPr sz="1950" b="1" i="0" u="none" cap="none" spc="0">
                <a:ln>
                  <a:noFill/>
                </a:ln>
                <a:solidFill>
                  <a:srgbClr val="3C4A52"/>
                </a:solidFill>
                <a:latin typeface="Calibri"/>
                <a:ea typeface="Calibri"/>
                <a:cs typeface="Calibri"/>
              </a:rPr>
              <a:t>SHAP Value Analysis — Model Interpretability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1E46439-1A74-4FE8-A886-C5E62377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32" y="576072"/>
            <a:ext cx="9572747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1568DE9-4B36-4F83-9D21-24E4380E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9" y="612649"/>
            <a:ext cx="452437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Global Feature Importance (SHAP)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2FF8BF2-3583-4E2B-9A04-98D3686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214" y="612649"/>
            <a:ext cx="452437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Individual Prediction Impact (Beeswarm)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F7F2C24-F8B8-4E8C-AD1B-B6408DFD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8" y="5905500"/>
            <a:ext cx="9429750" cy="5684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/>
            </a:pPr>
            <a:r>
              <a:rPr sz="1600" b="0" i="1" u="none" cap="none" spc="0">
                <a:ln>
                  <a:noFill/>
                </a:ln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SHAP can support adverse-action reasoning. Compliance also requires fairness testing, governance, human oversight and legal review.</a:t>
            </a:r>
          </a:p>
        </p:txBody>
      </p:sp>
      <p:pic>
        <p:nvPicPr>
          <p:cNvPr id="34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23e74b45843bb"/>
          <a:stretch xmlns:a="http://schemas.openxmlformats.org/drawingml/2006/main"/>
        </p:blipFill>
        <p:spPr>
          <a:xfrm xmlns:a="http://schemas.openxmlformats.org/drawingml/2006/main">
            <a:off x="2432270" y="1091565"/>
            <a:ext cx="4425512" cy="47625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9d1c037a47ae"/>
          <a:stretch xmlns:a="http://schemas.openxmlformats.org/drawingml/2006/main"/>
        </p:blipFill>
        <p:spPr>
          <a:xfrm xmlns:a="http://schemas.openxmlformats.org/drawingml/2006/main">
            <a:off x="7408697" y="1091565"/>
            <a:ext cx="4283408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74351"/>
      </p:ext>
    </p:extLst>
  </p:cSld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2026-09-12T14:52:54.9750000Z</dcterms:created>
  <dcterms:modified xsi:type="dcterms:W3CDTF">2026-09-12T14:52:54.9750000Z</dcterms:modified>
</coreProperties>
</file>